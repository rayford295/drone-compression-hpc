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2957dfe79247a9" /><Relationship Type="http://schemas.openxmlformats.org/officeDocument/2006/relationships/extended-properties" Target="/docProps/app.xml" Id="Re666a62a9c3b408e" /><Relationship Type="http://schemas.openxmlformats.org/officeDocument/2006/relationships/officeDocument" Target="/ppt/presentation.xml" Id="Rf58fbed5adc643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946ccae66b48d8"/>
  </p:sldMasterIdLst>
  <p:notesMasterIdLst>
    <p:notesMasterId xmlns:r="http://schemas.openxmlformats.org/officeDocument/2006/relationships" r:id="R224be39e69bc4ab2"/>
  </p:notesMasterIdLst>
  <p:sldIdLst>
    <p:sldId xmlns:r="http://schemas.openxmlformats.org/officeDocument/2006/relationships" id="256" r:id="R62fd9673e7524f54"/>
    <p:sldId xmlns:r="http://schemas.openxmlformats.org/officeDocument/2006/relationships" id="257" r:id="R3220e2c7ffa043db"/>
    <p:sldId xmlns:r="http://schemas.openxmlformats.org/officeDocument/2006/relationships" id="258" r:id="R549d8e4511434ab9"/>
    <p:sldId xmlns:r="http://schemas.openxmlformats.org/officeDocument/2006/relationships" id="259" r:id="Re4939a4153df4389"/>
    <p:sldId xmlns:r="http://schemas.openxmlformats.org/officeDocument/2006/relationships" id="260" r:id="R1ed272e4f71a4c18"/>
    <p:sldId xmlns:r="http://schemas.openxmlformats.org/officeDocument/2006/relationships" id="261" r:id="R2ad6634e997848e2"/>
    <p:sldId xmlns:r="http://schemas.openxmlformats.org/officeDocument/2006/relationships" id="262" r:id="R284fae76cad24ec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946ccae66b48d8" /><Relationship Type="http://schemas.openxmlformats.org/officeDocument/2006/relationships/theme" Target="/ppt/theme/theme1.xml" Id="R329ec4aea8804851" /><Relationship Type="http://schemas.openxmlformats.org/officeDocument/2006/relationships/notesMaster" Target="/ppt/notesMasters/notesMaster1.xml" Id="R224be39e69bc4ab2" /><Relationship Type="http://schemas.openxmlformats.org/officeDocument/2006/relationships/presProps" Target="/ppt/presProps.xml" Id="Rad294bfb66734751" /><Relationship Type="http://schemas.openxmlformats.org/officeDocument/2006/relationships/viewProps" Target="/ppt/viewProps.xml" Id="R200a729b65ab43cd" /><Relationship Type="http://schemas.openxmlformats.org/officeDocument/2006/relationships/tableStyles" Target="/ppt/tableStyles.xml" Id="R4bf0365ee4054e15" /><Relationship Type="http://schemas.openxmlformats.org/officeDocument/2006/relationships/slide" Target="/ppt/slides/slide1.xml" Id="R62fd9673e7524f54" /><Relationship Type="http://schemas.openxmlformats.org/officeDocument/2006/relationships/slide" Target="/ppt/slides/slide2.xml" Id="R3220e2c7ffa043db" /><Relationship Type="http://schemas.openxmlformats.org/officeDocument/2006/relationships/slide" Target="/ppt/slides/slide3.xml" Id="R549d8e4511434ab9" /><Relationship Type="http://schemas.openxmlformats.org/officeDocument/2006/relationships/slide" Target="/ppt/slides/slide4.xml" Id="Re4939a4153df4389" /><Relationship Type="http://schemas.openxmlformats.org/officeDocument/2006/relationships/slide" Target="/ppt/slides/slide5.xml" Id="R1ed272e4f71a4c18" /><Relationship Type="http://schemas.openxmlformats.org/officeDocument/2006/relationships/slide" Target="/ppt/slides/slide6.xml" Id="R2ad6634e997848e2" /><Relationship Type="http://schemas.openxmlformats.org/officeDocument/2006/relationships/slide" Target="/ppt/slides/slide7.xml" Id="R284fae76cad24e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ad0c44b97d84a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2c8c5e4c0e44a8" /><Relationship Type="http://schemas.openxmlformats.org/officeDocument/2006/relationships/notesMaster" Target="/ppt/notesMasters/notesMaster1.xml" Id="Rc414817d09754b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f26e66b22042ac" /><Relationship Type="http://schemas.openxmlformats.org/officeDocument/2006/relationships/notesMaster" Target="/ppt/notesMasters/notesMaster1.xml" Id="R8a1ba44be8b54d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78079ff7a04d67" /><Relationship Type="http://schemas.openxmlformats.org/officeDocument/2006/relationships/notesMaster" Target="/ppt/notesMasters/notesMaster1.xml" Id="Rc8f6b673219d4d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e055ff81f444cf" /><Relationship Type="http://schemas.openxmlformats.org/officeDocument/2006/relationships/notesMaster" Target="/ppt/notesMasters/notesMaster1.xml" Id="Rc24c19f23e9241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b8585377f74530" /><Relationship Type="http://schemas.openxmlformats.org/officeDocument/2006/relationships/notesMaster" Target="/ppt/notesMasters/notesMaster1.xml" Id="Rf60340c455e24c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ecbef18c274e09" /><Relationship Type="http://schemas.openxmlformats.org/officeDocument/2006/relationships/notesMaster" Target="/ppt/notesMasters/notesMaster1.xml" Id="R2086ffeec70f4a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6c43162d8049b4" /><Relationship Type="http://schemas.openxmlformats.org/officeDocument/2006/relationships/notesMaster" Target="/ppt/notesMasters/notesMaster1.xml" Id="R1243000b026e4a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2e259e35e44d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f1a2f4a4c374097" /><Relationship Type="http://schemas.openxmlformats.org/officeDocument/2006/relationships/slideLayout" Target="/ppt/slideLayouts/slideLayout2.xml" Id="R932f157c9ca64e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2f157c9ca64e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967d9022a746a2" /><Relationship Type="http://schemas.openxmlformats.org/officeDocument/2006/relationships/image" Target="/ppt/media/image.jpeg" Id="Rcb3a3228639c4f98" /><Relationship Type="http://schemas.openxmlformats.org/officeDocument/2006/relationships/notesSlide" Target="/ppt/notesSlides/notesSlide1.xml" Id="R0e93cd1db9574a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15c11f0fd64e64" /><Relationship Type="http://schemas.openxmlformats.org/officeDocument/2006/relationships/notesSlide" Target="/ppt/notesSlides/notesSlide2.xml" Id="R1315c2e560f041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218e42faf649d1" /><Relationship Type="http://schemas.openxmlformats.org/officeDocument/2006/relationships/notesSlide" Target="/ppt/notesSlides/notesSlide3.xml" Id="R8a50df530fc24b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12b2e5c11d4ab1" /><Relationship Type="http://schemas.openxmlformats.org/officeDocument/2006/relationships/notesSlide" Target="/ppt/notesSlides/notesSlide4.xml" Id="R7d2ad50e5ea245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dd51735f2e491d" /><Relationship Type="http://schemas.openxmlformats.org/officeDocument/2006/relationships/image" Target="/ppt/media/image2.jpeg" Id="R4660218ca88348f8" /><Relationship Type="http://schemas.openxmlformats.org/officeDocument/2006/relationships/image" Target="/ppt/media/image3.jpeg" Id="Rf21628d70e11448b" /><Relationship Type="http://schemas.openxmlformats.org/officeDocument/2006/relationships/notesSlide" Target="/ppt/notesSlides/notesSlide5.xml" Id="Rf0b53f5e981b41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b6eeb26a8d4169" /><Relationship Type="http://schemas.openxmlformats.org/officeDocument/2006/relationships/notesSlide" Target="/ppt/notesSlides/notesSlide6.xml" Id="R75739068442745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644bcbbfdc44a0" /><Relationship Type="http://schemas.openxmlformats.org/officeDocument/2006/relationships/notesSlide" Target="/ppt/notesSlides/notesSlide7.xml" Id="R4a0a2895f01a48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E6DE16-4B1C-4067-B865-213806BC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0B1B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31B77-3837-4959-AA4E-B8DB383A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3110"/>
            <a:ext cx="1248251" cy="58674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2345C"/>
          </a:solidFill>
          <a:ln xmlns:a="http://schemas.openxmlformats.org/drawingml/2006/main" w="9525">
            <a:solidFill>
              <a:srgbClr val="1234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DB534-29BA-439F-A0DA-037ACA5A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914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BFE8FF"/>
                </a:solidFill>
              </a:defRPr>
            </a:pPr>
            <a:r>
              <a:t>SC26 CDC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B4FC9-9C7E-4D74-B6C0-1E73EB7A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451" y="2023110"/>
            <a:ext cx="1606010" cy="58674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63B32"/>
          </a:solidFill>
          <a:ln xmlns:a="http://schemas.openxmlformats.org/drawingml/2006/main" w="9525">
            <a:solidFill>
              <a:srgbClr val="163B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117F1-1FB9-4065-A8C4-B48792C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95500"/>
            <a:ext cx="1257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C9F4E8"/>
                </a:solidFill>
              </a:defRPr>
            </a:pPr>
            <a:r>
              <a:t>DeltaAI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C03EE-8BF4-40C6-A098-08205CC6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7848600" cy="2343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 i="0">
                <a:solidFill>
                  <a:srgbClr val="FFFFFF"/>
                </a:solidFill>
              </a:defRPr>
            </a:pPr>
            <a:r>
              <a:t>Compression Results Are Ready for the Poster 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1F0EA-DAD9-4E6D-9E87-0476A045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71818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D7E3F5"/>
                </a:solidFill>
              </a:defRPr>
            </a:pPr>
            <a:r>
              <a:t>Three linked deliverables now support the update: 256 tiling, Jacob's compression-side experiment, and poster-ready difference-map panels.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C8B78-28A2-4BCA-95D8-6D7A9616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44640"/>
            <a:ext cx="2619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292A6-EAA2-4F89-A51E-E5678D95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1990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B667A"/>
                </a:solidFill>
              </a:defRPr>
            </a:pPr>
            <a:r>
              <a:t>Tiling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8F6EE-23F1-4921-BFD7-D2796163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258050"/>
            <a:ext cx="2209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86EFAC"/>
                </a:solidFill>
              </a:defRPr>
            </a:pPr>
            <a:r>
              <a:t>256 wins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F2099-203E-4BFA-B6E4-A550C17A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90575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67A"/>
                </a:solidFill>
              </a:defRPr>
            </a:pPr>
            <a:r>
              <a:t>79.84s and 1.66 GB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F143C-8ACB-4F64-A185-1299DF41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6644640"/>
            <a:ext cx="2619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63B795-D2E6-485A-AE35-6F883AC0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81990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B667A"/>
                </a:solidFill>
              </a:defRPr>
            </a:pPr>
            <a:r>
              <a:t>Compression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0A898-97EA-4BB4-808D-5807795D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258050"/>
            <a:ext cx="2209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7DD3FC"/>
                </a:solidFill>
              </a:defRPr>
            </a:pPr>
            <a:r>
              <a:t>N=20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F3B3A1-5701-4BD1-A81B-AE7AA7C5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90575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67A"/>
                </a:solidFill>
              </a:defRPr>
            </a:pPr>
            <a:r>
              <a:t>checkpoint sweep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C4619-E068-4518-8BA6-6B5FECA1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644640"/>
            <a:ext cx="2619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7CD9EF-5D65-45C3-AD58-BD27A928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81990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B667A"/>
                </a:solidFill>
              </a:defRPr>
            </a:pPr>
            <a:r>
              <a:t>Poster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E0F73-9028-449A-9AD7-0D804936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258050"/>
            <a:ext cx="2209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FDBA74"/>
                </a:solidFill>
              </a:defRPr>
            </a:pPr>
            <a:r>
              <a:t>3 panels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9732C-3E5C-4834-B0F1-510AEF73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90575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67A"/>
                </a:solidFill>
              </a:defRPr>
            </a:pPr>
            <a:r>
              <a:t>difference maps 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4EB3E-DC29-44B4-AB37-2DAEB129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66750"/>
            <a:ext cx="8162925" cy="8953500"/>
          </a:xfrm>
          <a:prstGeom xmlns:a="http://schemas.openxmlformats.org/drawingml/2006/main" prst="roundRect">
            <a:avLst>
              <a:gd name="adj" fmla="val 9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B5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a3228639c4f98"/>
          <a:stretch xmlns:a="http://schemas.openxmlformats.org/drawingml/2006/main"/>
        </p:blipFill>
        <p:spPr>
          <a:xfrm xmlns:a="http://schemas.openxmlformats.org/drawingml/2006/main">
            <a:off x="9572625" y="2805682"/>
            <a:ext cx="7820025" cy="4367027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FF9B29-8955-4365-BC0A-4F545887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9258300"/>
            <a:ext cx="782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67A"/>
                </a:solidFill>
              </a:defRPr>
            </a:pPr>
            <a:r>
              <a:t>Poster visual QA: original, reconstructed, hot difference map, histogram, metrics, and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8616744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19ADEC-AA5A-4214-96B1-512B4207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9DFA4B-E214-4CA8-99AC-D6F261C6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916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72033"/>
                </a:solidFill>
              </a:defRPr>
            </a:pPr>
            <a:r>
              <a:t>Three Pieces Are Complete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7F8B0E2-1C9B-4057-827A-01088944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B667A"/>
                </a:solidFill>
              </a:defRPr>
            </a:pPr>
            <a:r>
              <a:t>The update can now move from experiment setup to poster assembly.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EC8C4-41AF-48EC-8149-D4F05FF0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A09EB-2317-4E4B-AF71-8DC214D0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3580"/>
            <a:ext cx="5499100" cy="7391400"/>
          </a:xfrm>
          <a:prstGeom xmlns:a="http://schemas.openxmlformats.org/drawingml/2006/main" prst="roundRect">
            <a:avLst>
              <a:gd name="adj" fmla="val 13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7C354-9B11-44C4-BBF7-4C7AD88C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2180"/>
            <a:ext cx="443484" cy="369570"/>
          </a:xfrm>
          <a:prstGeom xmlns:a="http://schemas.openxmlformats.org/drawingml/2006/main" prst="roundRect">
            <a:avLst>
              <a:gd name="adj" fmla="val 2061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72CAB-B03E-4BDB-A606-EAB52F74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9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803D"/>
                </a:solidFill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94093-D935-45BD-B9BF-EB5A3B04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5010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72033"/>
                </a:solidFill>
              </a:defRPr>
            </a:pPr>
            <a:r>
              <a:t>Yifan tiling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715C0-4E14-473D-83D6-45B5A36D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5010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B667A"/>
                </a:solidFill>
              </a:defRPr>
            </a:pPr>
            <a:r>
              <a:t>Selected `256 x 256` against no tiling and `512 x 512` on 50 full-resolution images.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64D98-BBBE-441C-8ECD-42FCA137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3340"/>
            <a:ext cx="5003800" cy="5273040"/>
          </a:xfrm>
          <a:prstGeom xmlns:a="http://schemas.openxmlformats.org/drawingml/2006/main" prst="roundRect">
            <a:avLst>
              <a:gd name="adj" fmla="val 15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2158B-438A-476D-B48C-B699D028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591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B667A"/>
                </a:solidFill>
              </a:defRPr>
            </a:pPr>
            <a:r>
              <a:t>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ADCFC-0C8E-49B7-9058-30EE801D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05550"/>
            <a:ext cx="4591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15803D"/>
                </a:solidFill>
              </a:defRPr>
            </a:pPr>
            <a:r>
              <a:t>256 x 256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DE1A2-A16C-4BB0-A578-E78C3776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763000"/>
            <a:ext cx="4591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67A"/>
                </a:solidFill>
              </a:defRPr>
            </a:pPr>
            <a:r>
              <a:t>speed and memory candidate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9245C-42FB-4323-8D82-DE09D3CC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1973580"/>
            <a:ext cx="5499100" cy="7391400"/>
          </a:xfrm>
          <a:prstGeom xmlns:a="http://schemas.openxmlformats.org/drawingml/2006/main" prst="roundRect">
            <a:avLst>
              <a:gd name="adj" fmla="val 13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2435C-6719-431E-93FA-9A28C24A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100" y="2202180"/>
            <a:ext cx="443484" cy="369570"/>
          </a:xfrm>
          <a:prstGeom xmlns:a="http://schemas.openxmlformats.org/drawingml/2006/main" prst="roundRect">
            <a:avLst>
              <a:gd name="adj" fmla="val 2061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6886E-FB64-4924-9C3A-538535BB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86000"/>
            <a:ext cx="9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563EB"/>
                </a:solidFill>
              </a:defRPr>
            </a:pPr>
            <a: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CE650-99C3-490D-948C-BDCE80EA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5010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72033"/>
                </a:solidFill>
              </a:defRPr>
            </a:pPr>
            <a:r>
              <a:t>Jacob compression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5254F-3C40-4672-AA8E-6B759A2A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38500"/>
            <a:ext cx="5010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B667A"/>
                </a:solidFill>
              </a:defRPr>
            </a:pPr>
            <a:r>
              <a:t>Baseline, resolution, batch, checkpoint, scaling, and storage tests on 20 images.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CBE89-E905-4AA8-B45C-7CBAD70B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100" y="3863340"/>
            <a:ext cx="5003800" cy="5273040"/>
          </a:xfrm>
          <a:prstGeom xmlns:a="http://schemas.openxmlformats.org/drawingml/2006/main" prst="roundRect">
            <a:avLst>
              <a:gd name="adj" fmla="val 15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B7114-5E05-462B-8212-795EA54E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38600"/>
            <a:ext cx="4591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B667A"/>
                </a:solidFill>
              </a:defRPr>
            </a:pPr>
            <a:r>
              <a:t>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97808-C655-4BD2-98A8-299689A2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305550"/>
            <a:ext cx="4591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2563EB"/>
                </a:solidFill>
              </a:defRPr>
            </a:pPr>
            <a:r>
              <a:t>N=20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409D84-6199-43CF-B94C-C50E4C3D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763000"/>
            <a:ext cx="4591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67A"/>
                </a:solidFill>
              </a:defRPr>
            </a:pPr>
            <a:r>
              <a:t>table is on GitHub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529CCC-876C-4071-9E9F-60F0D74D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1973580"/>
            <a:ext cx="5499100" cy="7391400"/>
          </a:xfrm>
          <a:prstGeom xmlns:a="http://schemas.openxmlformats.org/drawingml/2006/main" prst="roundRect">
            <a:avLst>
              <a:gd name="adj" fmla="val 13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69C508-4439-42C2-B217-26F1E4E0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0750" y="2202180"/>
            <a:ext cx="443484" cy="369570"/>
          </a:xfrm>
          <a:prstGeom xmlns:a="http://schemas.openxmlformats.org/drawingml/2006/main" prst="roundRect">
            <a:avLst>
              <a:gd name="adj" fmla="val 2061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1D4A35-E0F3-444B-A6CC-50D2BFBE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286000"/>
            <a:ext cx="9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D97706"/>
                </a:solidFill>
              </a:defRPr>
            </a:pPr>
            <a: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98DDBB-73D8-42F3-926A-860FFB01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724150"/>
            <a:ext cx="5010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72033"/>
                </a:solidFill>
              </a:defRPr>
            </a:pPr>
            <a:r>
              <a:t>Poster visuals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755FD8-5BB7-45EB-8D84-5E194547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238500"/>
            <a:ext cx="5010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B667A"/>
                </a:solidFill>
              </a:defRPr>
            </a:pPr>
            <a:r>
              <a:t>Difference-map panels now match the visual format requested in chat.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5FF8D8-42A8-4D52-8726-8A2597B5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0750" y="3863340"/>
            <a:ext cx="5003800" cy="5273040"/>
          </a:xfrm>
          <a:prstGeom xmlns:a="http://schemas.openxmlformats.org/drawingml/2006/main" prst="roundRect">
            <a:avLst>
              <a:gd name="adj" fmla="val 15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8F3F5C-D5C2-4BE3-8662-48DC0AA3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038600"/>
            <a:ext cx="4591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B667A"/>
                </a:solidFill>
              </a:defRPr>
            </a:pPr>
            <a:r>
              <a:t>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59EF9E-F7B8-41A8-9637-85EB510B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6305550"/>
            <a:ext cx="4591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D97706"/>
                </a:solidFill>
              </a:defRPr>
            </a:pPr>
            <a:r>
              <a:t>3 panels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52257B-7BA7-4E61-BF05-2FEE8BC0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8763000"/>
            <a:ext cx="4591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67A"/>
                </a:solidFill>
              </a:defRPr>
            </a:pPr>
            <a:r>
              <a:t>no tiling / 256 / 512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549AFA-D8A6-44B1-AAC7-CA0236E6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0"/>
            <a:ext cx="47434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B7280"/>
                </a:solidFill>
              </a:defRPr>
            </a:pPr>
            <a:r>
              <a:t>Source: committed result folders under results/2026-05-15, results/2026-05-22.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3667DA-696D-4760-BBCA-7706C0DE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9620250"/>
            <a:ext cx="2019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B7280"/>
                </a:solidFill>
              </a:defRPr>
            </a:pPr>
            <a:r>
              <a:t>SC26 CDC update | May 22, 2026</a:t>
            </a:r>
          </a:p>
        </p:txBody>
      </p:sp>
    </p:spTree>
    <p:extLst>
      <p:ext uri="{BB962C8B-B14F-4D97-AF65-F5344CB8AC3E}">
        <p14:creationId xmlns:p14="http://schemas.microsoft.com/office/powerpoint/2010/main" val="12664248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720AF2-F965-4648-A80A-2937E7A8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31FF88-2AFE-4882-AF77-F27DBE71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916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72033"/>
                </a:solidFill>
              </a:defRPr>
            </a:pPr>
            <a:r>
              <a:t>256 x 256 Is the New Speed and Memory Candidate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47BFD70-0862-4CD1-B03F-7D36BA46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2058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B667A"/>
                </a:solidFill>
              </a:defRPr>
            </a:pPr>
            <a:r>
              <a:t>The larger N=50 selected run confirms smaller tiles cut memory below 2 GB and improve wall time compared with 512 tiles.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FCFFE-A0DC-4C41-8470-8826902D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6F83E-A8B5-4A82-980C-35FB2AED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6470"/>
            <a:ext cx="9334500" cy="6968490"/>
          </a:xfrm>
          <a:prstGeom xmlns:a="http://schemas.openxmlformats.org/drawingml/2006/main" prst="roundRect">
            <a:avLst>
              <a:gd name="adj" fmla="val 1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BC53D-F0BC-4BC0-81FA-21CAA66F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8839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33"/>
                </a:solidFill>
              </a:defRPr>
            </a:pPr>
            <a:r>
              <a:t>Selected N=50 Tiling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373A4-E5A5-4E89-BFC7-63C4D557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0370"/>
            <a:ext cx="208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6DEC4-B8F3-443E-BD77-9DDDBF86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90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t>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35461-E68C-4DCE-B40F-0E20E8DC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450" y="2960370"/>
            <a:ext cx="118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D6150-97D7-42EB-BB02-039632B3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28950"/>
            <a:ext cx="99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t>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030A1-54F2-4F9A-939B-8EEDDCEA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650" y="2960370"/>
            <a:ext cx="132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D9940-0F00-4A69-B89F-E4C658D6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1123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t>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6D589-DB8B-466C-B021-680F020B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050" y="2960370"/>
            <a:ext cx="118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111D9-3A00-438B-9B1A-9F6208BF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28950"/>
            <a:ext cx="99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t>Ratio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342DA-208D-4F4D-ABCC-0332BC2B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250" y="2960370"/>
            <a:ext cx="100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A1429-FB69-4493-BBDD-845C2C3C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28950"/>
            <a:ext cx="819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t>PSNR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3DA46-DC79-4A07-8D4C-9B2403B6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450" y="2960370"/>
            <a:ext cx="107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B62DBD-652E-42AC-B892-BD4798AE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895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t>SSIM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C04C8-74CC-4D3F-AEFF-B6C4E0AD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250" y="2960370"/>
            <a:ext cx="97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6F295-791B-479A-A904-8F0C0548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781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t>p99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5A5267-15C4-45D7-9CFE-86C31111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9470"/>
            <a:ext cx="208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67DAA-47F1-4DF7-BA1A-0D273FD9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190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No tiling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A17CE4-EBB4-4870-A5F1-47FD7E87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450" y="3379470"/>
            <a:ext cx="118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D97112-41BC-4A2A-8E33-C0C1BC7E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48050"/>
            <a:ext cx="99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144.35s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88691B-1FEA-4A50-B024-E54EF35C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650" y="3379470"/>
            <a:ext cx="1322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5E6569-A51E-4CC7-8CD7-FD2288F0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48050"/>
            <a:ext cx="1123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52.01 GB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8BC0C3-89A9-4C52-946F-C3130874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050" y="3379470"/>
            <a:ext cx="118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230079-C4C4-4FE5-B695-DAB9A607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48050"/>
            <a:ext cx="99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70.11x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D2BB6F-611A-498B-B391-4257DFFA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250" y="3379470"/>
            <a:ext cx="1009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DC4300-89A6-4F59-803F-C12D8D5F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48050"/>
            <a:ext cx="819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28.96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386411-97BD-4714-AA63-F12F4F80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450" y="3379470"/>
            <a:ext cx="107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C19A02-F914-4C7A-83B8-E0A36949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48050"/>
            <a:ext cx="895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0.8616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493D6C-AD9A-44C9-AF4E-678E3E8A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250" y="3379470"/>
            <a:ext cx="97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859C75-819B-4834-8237-9BC11F18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48050"/>
            <a:ext cx="781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0.118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4C555B-651C-4D47-BF1F-C9C9D498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93820"/>
            <a:ext cx="208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11CCB9-9EF2-4010-BE76-DCA9F372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190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256 tile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A489CB-FC2C-4952-A9BA-9B6E4FD6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450" y="3893820"/>
            <a:ext cx="118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55CBED-212D-44F8-BBD0-99302F9E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62400"/>
            <a:ext cx="99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79.84s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114C14-57BD-474D-AA70-5A5059E4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650" y="3893820"/>
            <a:ext cx="1322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D422CF-5D6A-4285-A228-18B2355E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62400"/>
            <a:ext cx="1123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1.66 GB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74038C-F27A-4AB6-97B7-CDC19284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050" y="3893820"/>
            <a:ext cx="118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B4F3CE-A76F-4077-A2D6-B6F4D27F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62400"/>
            <a:ext cx="99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68.24x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A0C148-ED7A-4860-8DBA-B95C5FCE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250" y="3893820"/>
            <a:ext cx="1009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88B0F0-2A91-4D93-B99C-8AD19656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62400"/>
            <a:ext cx="819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28.78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C2CA5E-E08B-41F1-8AB0-2A5B503F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450" y="3893820"/>
            <a:ext cx="107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1EA905-B668-4988-87C7-863B5DEF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895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0.8552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5CC0F4-514E-4892-A9B3-BC4181F8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250" y="3893820"/>
            <a:ext cx="97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B56847-3D04-48E4-BE8F-DE0C273A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62400"/>
            <a:ext cx="781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0.120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8287D1-D602-4AEE-9B13-1B379D6B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8170"/>
            <a:ext cx="208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803866B-D3C3-4CD1-9DE0-FEF9A1AF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190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512 tile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5A96B4-4BF3-4C9F-A3CD-F293F04C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450" y="4408170"/>
            <a:ext cx="118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B90115-4D9E-4EF8-8F9D-DC3FED69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76750"/>
            <a:ext cx="99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87.71s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9E4DAE-94DB-4E87-B195-B6C93209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650" y="4408170"/>
            <a:ext cx="1322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65B2C4-86CB-47D7-845E-0BA69E97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1123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3.02 GB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0A64A3-B1DD-46BB-83C9-10646DF3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050" y="4408170"/>
            <a:ext cx="118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64AB17-63A5-4286-B0E0-31940DE4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76750"/>
            <a:ext cx="99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66.31x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9DEA29-DC4E-4737-B59C-A3880888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250" y="4408170"/>
            <a:ext cx="1009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3F3196-7640-463A-A06A-193B20AF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76750"/>
            <a:ext cx="819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28.86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BDDAC8-161D-4103-BE0E-21F611C8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450" y="4408170"/>
            <a:ext cx="107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5BB13B-6059-4571-BE8B-C7CF097C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895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0.8583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7B9566F-AC6E-4E4E-88D4-59E74949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250" y="4408170"/>
            <a:ext cx="97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0F0C66-D30C-4E31-83D0-918F170C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76750"/>
            <a:ext cx="781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033"/>
                </a:solidFill>
              </a:defRPr>
            </a:pPr>
            <a:r>
              <a:t>0.119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72EF60-5C55-41D3-8B90-A8E84781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36470"/>
            <a:ext cx="7334250" cy="6968490"/>
          </a:xfrm>
          <a:prstGeom xmlns:a="http://schemas.openxmlformats.org/drawingml/2006/main" prst="roundRect">
            <a:avLst>
              <a:gd name="adj" fmla="val 1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44D1D9F-82D2-40CA-AE73-B8E129AD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457450"/>
            <a:ext cx="6838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33"/>
                </a:solidFill>
              </a:defRPr>
            </a:pPr>
            <a:r>
              <a:t>Decision Point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CD842C7-6953-4DE3-902C-46F2936E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60370"/>
            <a:ext cx="6838950" cy="2293620"/>
          </a:xfrm>
          <a:prstGeom xmlns:a="http://schemas.openxmlformats.org/drawingml/2006/main" prst="roundRect">
            <a:avLst>
              <a:gd name="adj" fmla="val 33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B9A04D2-BC61-4C86-9416-94EA7982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124200"/>
            <a:ext cx="6419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B667A"/>
                </a:solidFill>
              </a:defRPr>
            </a:pPr>
            <a:r>
              <a:t>Runtime gain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07CDF4-CE75-463E-BBFF-93144637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924300"/>
            <a:ext cx="641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0F766E"/>
                </a:solidFill>
              </a:defRPr>
            </a:pPr>
            <a:r>
              <a:t>44.7%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5EABB06-DBDD-4B5E-B07A-7FF566FA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895850"/>
            <a:ext cx="6419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67A"/>
                </a:solidFill>
              </a:defRPr>
            </a:pPr>
            <a:r>
              <a:t>144.35s to 79.84s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7637D24-13F8-456E-8AB4-DAE2203D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406390"/>
            <a:ext cx="6838950" cy="2293620"/>
          </a:xfrm>
          <a:prstGeom xmlns:a="http://schemas.openxmlformats.org/drawingml/2006/main" prst="roundRect">
            <a:avLst>
              <a:gd name="adj" fmla="val 33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4C815B5-CD1A-4DFE-AF61-93D080ED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581650"/>
            <a:ext cx="6419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B667A"/>
                </a:solidFill>
              </a:defRPr>
            </a:pPr>
            <a:r>
              <a:t>Memory gain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F9C31DA-8E26-4C58-99A1-F903595E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62700"/>
            <a:ext cx="641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15803D"/>
                </a:solidFill>
              </a:defRPr>
            </a:pPr>
            <a:r>
              <a:t>31.3x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0234A97-7C40-4FB7-897B-F25AB370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334250"/>
            <a:ext cx="6419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67A"/>
                </a:solidFill>
              </a:defRPr>
            </a:pPr>
            <a:r>
              <a:t>52.01 GB to 1.66 GB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9BA6353-E3C7-41B6-8EC5-47751DCA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7848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4BB9679-76ED-4F1F-A80F-67B263D3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48600"/>
            <a:ext cx="659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033"/>
                </a:solidFill>
              </a:defRPr>
            </a:pPr>
            <a:r>
              <a:t>Use 256 x 256 as the speed/memory recommendation.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12104AE-F1C0-49FC-81EE-D3C54FE3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813435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t>Quality is slightly lower than 512, but the operational savings are large.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22191C3-2E9C-40B3-88D9-51125362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8496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F8EA22A-67CA-44DD-B1AC-6BD20010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8496300"/>
            <a:ext cx="659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033"/>
                </a:solidFill>
              </a:defRPr>
            </a:pPr>
            <a:r>
              <a:t>Keep 512 x 512 as the quality-safe backup.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CBB9246-4D63-4B14-AE0E-CCC9A62C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876300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t>It has slightly better PSNR, SSIM, MAE, and high-percentile error.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50166A1-924C-42A3-B9AA-C7610169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6785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B7280"/>
                </a:solidFill>
              </a:defRPr>
            </a:pPr>
            <a:r>
              <a:t>Source: results/2026-05-15-yifan-selected-256-512-n50/.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BA6BE94-E302-4954-9FA9-9551FF0E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9544050"/>
            <a:ext cx="2019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B7280"/>
                </a:solidFill>
              </a:defRPr>
            </a:pPr>
            <a:r>
              <a:t>SC26 CDC update | May 22, 2026</a:t>
            </a:r>
          </a:p>
        </p:txBody>
      </p:sp>
    </p:spTree>
    <p:extLst>
      <p:ext uri="{BB962C8B-B14F-4D97-AF65-F5344CB8AC3E}">
        <p14:creationId xmlns:p14="http://schemas.microsoft.com/office/powerpoint/2010/main" val="1693302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2130B3-F196-4325-82C4-378DA07D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924F27-E933-4F1A-BB1B-30AA13AD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916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72033"/>
                </a:solidFill>
              </a:defRPr>
            </a:pPr>
            <a:r>
              <a:t>Jacob Compression-Side Experiment Is Now a Usable Table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95315A-264F-4D3B-B35C-6674EAF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267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B667A"/>
                </a:solidFill>
              </a:defRPr>
            </a:pPr>
            <a:r>
              <a:t>N=20 results cover the requested baseline, batch, resolution, checkpoint, scaling, and storage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36041-3342-475C-8A21-389E74DB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A3F91-0089-4146-8B21-AA68C300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6470"/>
            <a:ext cx="7500938" cy="7128510"/>
          </a:xfrm>
          <a:prstGeom xmlns:a="http://schemas.openxmlformats.org/drawingml/2006/main" prst="roundRect">
            <a:avLst>
              <a:gd name="adj" fmla="val 1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33147-F858-47DB-9657-6C2B753F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7010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33"/>
                </a:solidFill>
              </a:defRPr>
            </a:pPr>
            <a:r>
              <a:t>Operational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40041-C5F2-4296-82E0-104328E9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0370"/>
            <a:ext cx="7005638" cy="1744345"/>
          </a:xfrm>
          <a:prstGeom xmlns:a="http://schemas.openxmlformats.org/drawingml/2006/main" prst="roundRect">
            <a:avLst>
              <a:gd name="adj" fmla="val 4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E9034-6391-43B3-955F-84EC65B4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B667A"/>
                </a:solidFill>
              </a:defRPr>
            </a:pPr>
            <a:r>
              <a:t>Native batch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03E79-DBC0-407C-8301-88228DA1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6591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2563EB"/>
                </a:solidFill>
              </a:defRPr>
            </a:pPr>
            <a:r>
              <a:t>144.32s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A7F1E-F26C-48A5-8F81-C09718BB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67A"/>
                </a:solidFill>
              </a:defRPr>
            </a:pPr>
            <a:r>
              <a:t>per full-resolution image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27CCF-83FF-4B3B-B90C-214C16E2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115"/>
            <a:ext cx="7005638" cy="1744345"/>
          </a:xfrm>
          <a:prstGeom xmlns:a="http://schemas.openxmlformats.org/drawingml/2006/main" prst="roundRect">
            <a:avLst>
              <a:gd name="adj" fmla="val 4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C27CA-8A54-4DBE-8EE9-1E6A9413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2920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B667A"/>
                </a:solidFill>
              </a:defRPr>
            </a:pPr>
            <a:r>
              <a:t>Peak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D85A7-5CB3-4677-B84B-64831445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43550"/>
            <a:ext cx="6591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D97706"/>
                </a:solidFill>
              </a:defRPr>
            </a:pPr>
            <a:r>
              <a:t>52.0 GB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02D03-E46B-449B-9531-93D26087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67A"/>
                </a:solidFill>
              </a:defRPr>
            </a:pPr>
            <a:r>
              <a:t>native full-resolution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7F369-7D84-4385-89E5-9534C073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753860"/>
            <a:ext cx="7005638" cy="1744345"/>
          </a:xfrm>
          <a:prstGeom xmlns:a="http://schemas.openxmlformats.org/drawingml/2006/main" prst="roundRect">
            <a:avLst>
              <a:gd name="adj" fmla="val 4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B0B88-3809-4EED-BA7D-E1294E0F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B667A"/>
                </a:solidFill>
              </a:defRPr>
            </a:pPr>
            <a:r>
              <a:t>Compression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6F83F-BC74-47D7-82C7-E4617CB2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429500"/>
            <a:ext cx="6591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0F766E"/>
                </a:solidFill>
              </a:defRPr>
            </a:pPr>
            <a:r>
              <a:t>71.20x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A3F47-C368-4769-8563-5B55B999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13435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67A"/>
                </a:solidFill>
              </a:defRPr>
            </a:pPr>
            <a:r>
              <a:t>baseline_b02048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06EB9B-0E75-4553-AB77-62A357D2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648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1C1C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31BB6A-7A62-4C05-A32C-835FACD0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648700"/>
            <a:ext cx="676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033"/>
                </a:solidFill>
              </a:defRPr>
            </a:pPr>
            <a:r>
              <a:t>Batching is not helpful at 2K.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7249FD-CAF1-44A4-ABEB-215082B4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934450"/>
            <a:ext cx="6762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t>Batch 1 is 7.35s/image; batch 2 and 4 are slower and use more memory.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68B002-B27D-42C9-BB6B-3AB0098B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388" y="2236470"/>
            <a:ext cx="9167813" cy="7128510"/>
          </a:xfrm>
          <a:prstGeom xmlns:a="http://schemas.openxmlformats.org/drawingml/2006/main" prst="roundRect">
            <a:avLst>
              <a:gd name="adj" fmla="val 1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E6D13-9DC2-4742-BC4C-DB0B7A6A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57450"/>
            <a:ext cx="8667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33"/>
                </a:solidFill>
              </a:defRPr>
            </a:pPr>
            <a:r>
              <a:t>Checkpoint Roles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B9C147-1BD8-4C87-AFB9-40474F44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038" y="2960370"/>
            <a:ext cx="279758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51B120-8E5A-4795-8B6E-89AACBC9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28950"/>
            <a:ext cx="2609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t>Role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0FB5C2-6653-486B-9EA1-0FBF89FF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622" y="2960370"/>
            <a:ext cx="191168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31EFC4-7B44-472C-B298-11CDF983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02895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t>Checkpoint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A04C29-F5BF-4118-8F10-71B9F728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305" y="2960370"/>
            <a:ext cx="1398792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401604-975B-4972-8DDC-3092F2C8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028950"/>
            <a:ext cx="1200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t>Ratio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D1BC74-63BA-427D-848C-991DCA67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0097" y="2960370"/>
            <a:ext cx="1282226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2078E7-E4AD-43C0-B3AF-0F57D623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3028950"/>
            <a:ext cx="1085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t>PSNR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0BB60A-03B4-4B50-9889-589B77DF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2324" y="2960370"/>
            <a:ext cx="1282226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55CE7A-25F3-4799-B4BB-B6B21840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0" y="3028950"/>
            <a:ext cx="1085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t>SSIM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CF96FB-FD02-42BD-B97E-F0951E56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038" y="3379470"/>
            <a:ext cx="279758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739175-13BA-4E98-8B3B-112555FB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48050"/>
            <a:ext cx="2609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t>High quality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D1EB15-3682-4FDE-AACE-C1314288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622" y="3379470"/>
            <a:ext cx="191168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442540-18A4-44D3-811B-D578A171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4480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t>b00512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EE972B-6F0B-4905-A52E-5C21C735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305" y="3379470"/>
            <a:ext cx="139879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966325-304E-4D32-B3D1-8120BB31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44805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t>32.67x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09AEF5-D010-4092-AE78-30AF39A8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0097" y="3379470"/>
            <a:ext cx="128222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18379C-E5A0-4DFC-8423-BE7655FE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34480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t>34.84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82F1E2-6C87-4F38-B038-EADA1B3A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2324" y="3379470"/>
            <a:ext cx="128222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09610B-EEAD-4B23-BA74-FACD2615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0" y="34480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t>0.942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7539ED-7DC5-483A-A742-EF0E8607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038" y="3950970"/>
            <a:ext cx="279758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DBFBA4-6161-4DAA-BC57-81D9051D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19550"/>
            <a:ext cx="2609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t>Balanced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8CBABE-DF69-4DF3-A4F3-26B9935B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622" y="3950970"/>
            <a:ext cx="191168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BA7DB4-4CBA-4019-BB88-71FC145C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0195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t>b00064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8E81A7-0828-49E9-9429-57065625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305" y="3950970"/>
            <a:ext cx="139879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7BD1DC-0CCC-4714-BC50-34F663D1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01955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t>93.11x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ABB90D-CBBB-49C2-9FC8-A15586DA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0097" y="3950970"/>
            <a:ext cx="128222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D7D196-F0C8-44E5-AE8F-72C60B92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40195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t>33.73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EF3962-9840-4476-BB09-C97D142F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2324" y="3950970"/>
            <a:ext cx="128222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4E8BCF-1ABB-4E55-989B-E514E13E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0" y="40195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t>0.880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BD3E8C-028B-47C6-BA88-995D69C9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038" y="4522470"/>
            <a:ext cx="279758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2DA220-F6F9-4FF8-B11E-1754D00B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91050"/>
            <a:ext cx="2609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t>High compression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CEDBF2-787E-4AA9-827B-51B4A65A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622" y="4522470"/>
            <a:ext cx="191168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A1B541-2134-480E-AC79-30EB1A35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5910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t>b00128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7260AF-D169-4DD4-8B2E-4D33E1F2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305" y="4522470"/>
            <a:ext cx="139879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98C1D4-39DA-4310-9BF5-461B4CD7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59105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t>165.73x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146516B-3A66-4C5E-BB97-2E6C07DC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0097" y="4522470"/>
            <a:ext cx="128222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878E859-7619-41B7-957C-BD70A9FC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45910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t>31.52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1AD315-A29C-47ED-A966-91A89134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2324" y="4522470"/>
            <a:ext cx="128222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D50626D-F7A0-4CAC-988A-4A06C1AB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0" y="45910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t>0.828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9A7AD6F-5F0E-483B-8E6C-03230D4F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19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67A"/>
          </a:solidFill>
          <a:ln xmlns:a="http://schemas.openxmlformats.org/drawingml/2006/main" w="9525">
            <a:solidFill>
              <a:srgbClr val="5B667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57D5621-C79F-42AD-A4B1-932E0657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19700"/>
            <a:ext cx="842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033"/>
                </a:solidFill>
              </a:defRPr>
            </a:pPr>
            <a:r>
              <a:t>Storage staging did not help.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ACCAFAF-80A8-4055-B3B7-EE59D5C5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505450"/>
            <a:ext cx="8420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t>Shared: 143.86s/image; local: 143.89s/image.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721CCBB-C2F8-445D-AA8C-38E8E57E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867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A324304-7460-4400-9652-020460D6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867400"/>
            <a:ext cx="842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033"/>
                </a:solidFill>
              </a:defRPr>
            </a:pPr>
            <a:r>
              <a:t>Recommended default remains batch size 1.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592B94-A065-4DB6-8AC1-1EC0F540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153150"/>
            <a:ext cx="8420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t>It is the safest setting for shared CDC workflows.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575601A-A84F-45FE-BBF6-78355275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0"/>
            <a:ext cx="3181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B7280"/>
                </a:solidFill>
              </a:defRPr>
            </a:pPr>
            <a:r>
              <a:t>Source: results/2026-05-22-jacob-compression-n20/.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D5F1DB2-3FF8-4A33-9F8D-BAA550FE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9620250"/>
            <a:ext cx="2019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B7280"/>
                </a:solidFill>
              </a:defRPr>
            </a:pPr>
            <a:r>
              <a:t>SC26 CDC update | May 22, 2026</a:t>
            </a:r>
          </a:p>
        </p:txBody>
      </p:sp>
    </p:spTree>
    <p:extLst>
      <p:ext uri="{BB962C8B-B14F-4D97-AF65-F5344CB8AC3E}">
        <p14:creationId xmlns:p14="http://schemas.microsoft.com/office/powerpoint/2010/main" val="15184645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52AF8A-28BD-4B55-A9E4-B13B3B82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FB04BC-4DCC-4497-AED0-C06DF593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916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72033"/>
                </a:solidFill>
              </a:defRPr>
            </a:pPr>
            <a:r>
              <a:t>Poster Visuals Now Show the Difference Map Directly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91F910E-47AA-4DC8-A832-79E5AB10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263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B667A"/>
                </a:solidFill>
              </a:defRPr>
            </a:pPr>
            <a:r>
              <a:t>The visual package follows the requested layout: original, reconstructed, hot difference map, histogram, metrics, and distribution.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00821-81DB-473C-9DBD-6A0D5B4C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A0EEC-DB16-46BA-B775-F1B1486A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3580"/>
            <a:ext cx="834390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22B1C-3ABB-49EF-93EE-2FFB0094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t>256 x 256 tiling panel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0218ca88348f8"/>
          <a:stretch xmlns:a="http://schemas.openxmlformats.org/drawingml/2006/main"/>
        </p:blipFill>
        <p:spPr>
          <a:xfrm xmlns:a="http://schemas.openxmlformats.org/drawingml/2006/main">
            <a:off x="838200" y="2613066"/>
            <a:ext cx="8039100" cy="448936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C49BC-12E9-4868-9797-4F95CBF7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73580"/>
            <a:ext cx="834390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DCBBF-54A8-41C0-BE64-8BEEA1D7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1455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t>512 x 512 tiling panel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628d70e11448b"/>
          <a:stretch xmlns:a="http://schemas.openxmlformats.org/drawingml/2006/main"/>
        </p:blipFill>
        <p:spPr>
          <a:xfrm xmlns:a="http://schemas.openxmlformats.org/drawingml/2006/main">
            <a:off x="9410700" y="2613066"/>
            <a:ext cx="8039100" cy="448936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FEC1E-0B06-414B-8289-63D190E6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31480"/>
            <a:ext cx="5537200" cy="1261110"/>
          </a:xfrm>
          <a:prstGeom xmlns:a="http://schemas.openxmlformats.org/drawingml/2006/main" prst="roundRect">
            <a:avLst>
              <a:gd name="adj" fmla="val 6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CDF76-131D-46C9-B47F-498E58D0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1055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B667A"/>
                </a:solidFill>
              </a:defRPr>
            </a:pPr>
            <a:r>
              <a:t>Visual format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E6C8B-2ACB-4341-843B-D120A771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477250"/>
            <a:ext cx="5124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15803D"/>
                </a:solidFill>
              </a:defRPr>
            </a:pPr>
            <a:r>
              <a:t>Ready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40D0C-E280-42FA-9788-9C5B53C8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93445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67A"/>
                </a:solidFill>
              </a:defRPr>
            </a:pPr>
            <a:r>
              <a:t>matches group-chat 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D3E3F-7653-414F-912A-455129BC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8031480"/>
            <a:ext cx="5537200" cy="1261110"/>
          </a:xfrm>
          <a:prstGeom xmlns:a="http://schemas.openxmlformats.org/drawingml/2006/main" prst="roundRect">
            <a:avLst>
              <a:gd name="adj" fmla="val 6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88D16-782C-487D-8DA1-C10F4462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21055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B667A"/>
                </a:solidFill>
              </a:defRPr>
            </a:pPr>
            <a:r>
              <a:t>Cases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59FF4-C218-42C0-ACA0-D3085975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477250"/>
            <a:ext cx="5124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2563EB"/>
                </a:solidFill>
              </a:defRPr>
            </a:pPr>
            <a: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C5CE6-E271-4518-A5B1-A1FB730A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93445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67A"/>
                </a:solidFill>
              </a:defRPr>
            </a:pPr>
            <a:r>
              <a:t>no tiling, 256, 512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880473-51F4-47BD-84B2-FD8BD615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8031480"/>
            <a:ext cx="5537200" cy="1261110"/>
          </a:xfrm>
          <a:prstGeom xmlns:a="http://schemas.openxmlformats.org/drawingml/2006/main" prst="roundRect">
            <a:avLst>
              <a:gd name="adj" fmla="val 6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EB1178-BEFD-46C2-B686-47261D62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21055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B667A"/>
                </a:solidFill>
              </a:defRPr>
            </a:pPr>
            <a:r>
              <a:t>Next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378AA-7183-4882-893E-9A54B868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477250"/>
            <a:ext cx="5124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D97706"/>
                </a:solidFill>
              </a:defRPr>
            </a:pPr>
            <a:r>
              <a:t>Regenerate raw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4761B-4C2D-49D4-B418-8064CE28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93445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67A"/>
                </a:solidFill>
              </a:defRPr>
            </a:pPr>
            <a:r>
              <a:t>for print-quality panels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AE27E2-A574-496D-8981-AA211260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86900"/>
            <a:ext cx="3067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B7280"/>
                </a:solidFill>
              </a:defRPr>
            </a:pPr>
            <a:r>
              <a:t>Source: results/2026-05-22-yifan-poster-visual-qa/.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972874-CF46-4B2F-B849-1F7E77AA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9486900"/>
            <a:ext cx="2019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B7280"/>
                </a:solidFill>
              </a:defRPr>
            </a:pPr>
            <a:r>
              <a:t>SC26 CDC update | May 22, 2026</a:t>
            </a:r>
          </a:p>
        </p:txBody>
      </p:sp>
    </p:spTree>
    <p:extLst>
      <p:ext uri="{BB962C8B-B14F-4D97-AF65-F5344CB8AC3E}">
        <p14:creationId xmlns:p14="http://schemas.microsoft.com/office/powerpoint/2010/main" val="20055514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310212-B42B-4CAA-910B-3A366DA7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CCEEF0-683D-4BDB-8A4B-5CC2EB81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916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72033"/>
                </a:solidFill>
              </a:defRPr>
            </a:pPr>
            <a:r>
              <a:t>Recommended Poster Story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E828A4D-E88F-4F98-8B19-856C0541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2058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B667A"/>
                </a:solidFill>
              </a:defRPr>
            </a:pPr>
            <a:r>
              <a:t>The message is now coherent: tiling makes reconstruction practical, checkpoint choice controls compression trade-off, and difference maps make quality inspectable.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F328B-F65B-4556-92C5-E78AF49A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EAE30-EE5A-49C6-9E7D-686D1890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6470"/>
            <a:ext cx="8334375" cy="5425440"/>
          </a:xfrm>
          <a:prstGeom xmlns:a="http://schemas.openxmlformats.org/drawingml/2006/main" prst="roundRect">
            <a:avLst>
              <a:gd name="adj" fmla="val 1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77787-73A4-49EF-BDD0-1DC621B3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5070"/>
            <a:ext cx="1489043" cy="58674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F095A-9CF0-4528-BFF2-A4A4B217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114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803D"/>
                </a:solidFill>
              </a:defRPr>
            </a:pPr>
            <a:r>
              <a:t>Use in poster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F8F48-1483-4C3E-BBBF-E5A049AF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9D3A3-A4C2-4B58-9936-4520A68E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0400"/>
            <a:ext cx="760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033"/>
                </a:solidFill>
              </a:defRPr>
            </a:pPr>
            <a:r>
              <a:t>Main reconstruction setting: 256 x 256 tiling.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AE46A-16A2-40A8-B5A6-BCB50836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86150"/>
            <a:ext cx="760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t>Fastest selected run and lowest memory among tested cases.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56B75-0D09-45D9-BD94-88019AF7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88BDE-7666-43F1-A415-23360659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760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033"/>
                </a:solidFill>
              </a:defRPr>
            </a:pPr>
            <a:r>
              <a:t>Quality-safe backup: 512 x 512 tiling.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41FDD-D46F-4A55-B34B-3B35FE09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14800"/>
            <a:ext cx="760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t>Use if visual artifacts appear in broader raw-panel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972AE0-9BF7-4287-B156-2639AA86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A61AF-A283-4A5A-B452-1B52632C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760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033"/>
                </a:solidFill>
              </a:defRPr>
            </a:pPr>
            <a:r>
              <a:t>Compression setting language: checkpoint-based.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43301-A866-4B32-96B4-9D736E48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62500"/>
            <a:ext cx="760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t>The x-param path has no direct runtime compression-level knob.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14EE4-C920-4375-9D51-444AFE4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236470"/>
            <a:ext cx="8334375" cy="5425440"/>
          </a:xfrm>
          <a:prstGeom xmlns:a="http://schemas.openxmlformats.org/drawingml/2006/main" prst="roundRect">
            <a:avLst>
              <a:gd name="adj" fmla="val 1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13B15-4890-477B-ADBA-AC1BFFA0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465070"/>
            <a:ext cx="1609439" cy="58674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5B068F-98EE-4F85-9C8C-D33B430A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33650"/>
            <a:ext cx="1257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563EB"/>
                </a:solidFill>
              </a:defRPr>
            </a:pPr>
            <a:r>
              <a:t>Write-up angle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AD2BFF-2F77-4BEA-8E58-736C8E04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00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BD0E3-D9BF-4F6C-B509-67D72B06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00400"/>
            <a:ext cx="760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033"/>
                </a:solidFill>
              </a:defRPr>
            </a:pPr>
            <a:r>
              <a:t>Report speed, memory, and ratio together.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61E7F7-9F15-4CD1-98F0-B141CEF3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86150"/>
            <a:ext cx="760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t>Avoid making compression ratio the only success metric.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5639FE-6FC8-4B1C-BA35-C7B02972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481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52188-05B9-4A9C-83D2-881BAF87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48100"/>
            <a:ext cx="760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033"/>
                </a:solidFill>
              </a:defRPr>
            </a:pPr>
            <a:r>
              <a:t>Show difference maps next to scalar metrics.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CC57A2-EC4C-4BFA-BEBB-BAFB96F7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14800"/>
            <a:ext cx="760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t>This makes small reconstruction differences visible to the poster audience.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4E1C7B-42C8-4D43-A5CC-BB84A928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67A"/>
          </a:solidFill>
          <a:ln xmlns:a="http://schemas.openxmlformats.org/drawingml/2006/main" w="9525">
            <a:solidFill>
              <a:srgbClr val="5B66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EECA5A-959B-4C8F-940F-1A33A73B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476750"/>
            <a:ext cx="760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033"/>
                </a:solidFill>
              </a:defRPr>
            </a:pPr>
            <a:r>
              <a:t>Do not overclaim storage staging.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A55484-BB4A-4EE9-8111-F723D865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762500"/>
            <a:ext cx="760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t>N=20 shows no meaningful local-storage speed gain.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CD6F40-5912-4294-B559-6E7D012D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9560"/>
            <a:ext cx="55372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A193E5-E979-4A46-9567-40D67FDD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0772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B667A"/>
                </a:solidFill>
              </a:defRPr>
            </a:pPr>
            <a:r>
              <a:t>Poster table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CB6DA6-74DE-4F00-A281-9DBB5177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62950"/>
            <a:ext cx="5124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15803D"/>
                </a:solidFill>
              </a:defRPr>
            </a:pPr>
            <a:r>
              <a:t>Ready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07A3BA-5B6C-4BEF-9022-46F964CC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8392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67A"/>
                </a:solidFill>
              </a:defRPr>
            </a:pPr>
            <a:r>
              <a:t>N=50 tiling + N=20 compression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C16F6F-38CD-424E-9434-1CE1ED9A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7909560"/>
            <a:ext cx="55372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0EABB0-93EA-4391-875E-DEEC9779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0772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B667A"/>
                </a:solidFill>
              </a:defRPr>
            </a:pPr>
            <a:r>
              <a:t>Visual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E6FD60-AC39-4EEE-B2FF-21A3F66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362950"/>
            <a:ext cx="5124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D97706"/>
                </a:solidFill>
              </a:defRPr>
            </a:pPr>
            <a:r>
              <a:t>Ready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FC4EC6-048D-4B45-8E45-D642BDA7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8392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67A"/>
                </a:solidFill>
              </a:defRPr>
            </a:pPr>
            <a:r>
              <a:t>3 difference-map panels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41F305-2142-45F7-9F4D-2A2C9AA2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7909560"/>
            <a:ext cx="55372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BC4D9D-45A9-4AF8-88A5-C50F5E09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0772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B667A"/>
                </a:solidFill>
              </a:defRPr>
            </a:pPr>
            <a:r>
              <a:t>Remaining work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0A9897-CD43-4B24-81BD-B70174C2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362950"/>
            <a:ext cx="5124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2563EB"/>
                </a:solidFill>
              </a:defRPr>
            </a:pPr>
            <a:r>
              <a:t>Layout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6C1596-E573-410B-B1B1-A6D61494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8392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67A"/>
                </a:solidFill>
              </a:defRPr>
            </a:pPr>
            <a:r>
              <a:t>place tables and panels on poster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439E57-63BA-495A-81F0-9989819F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67850"/>
            <a:ext cx="3295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B7280"/>
                </a:solidFill>
              </a:defRPr>
            </a:pPr>
            <a:r>
              <a:t>Source: committed GitHub result folders and runbooks.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62D578-C068-4697-91FD-FAAA9C58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9544050"/>
            <a:ext cx="2019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B7280"/>
                </a:solidFill>
              </a:defRPr>
            </a:pPr>
            <a:r>
              <a:t>SC26 CDC update | May 22, 2026</a:t>
            </a:r>
          </a:p>
        </p:txBody>
      </p:sp>
    </p:spTree>
    <p:extLst>
      <p:ext uri="{BB962C8B-B14F-4D97-AF65-F5344CB8AC3E}">
        <p14:creationId xmlns:p14="http://schemas.microsoft.com/office/powerpoint/2010/main" val="15570521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02FAB9-AF5C-42A1-87A1-67C7946D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42EDBA-9988-4AE8-AC9A-F25B0E29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916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72033"/>
                </a:solidFill>
              </a:defRPr>
            </a:pPr>
            <a:r>
              <a:t>Next Step Is Poster Assembly, Not More Setup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41BD0DA-A87C-4DB3-ADAF-A7A0BF10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2344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B667A"/>
                </a:solidFill>
              </a:defRPr>
            </a:pPr>
            <a:r>
              <a:t>All requested experiment lanes have a committed artifact. Further experiments should be targeted only if the poster needs one missing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BD554-32A4-4B35-B154-B3B01956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70E8E-D85F-447D-9976-02723BD4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6470"/>
            <a:ext cx="5511800" cy="6968490"/>
          </a:xfrm>
          <a:prstGeom xmlns:a="http://schemas.openxmlformats.org/drawingml/2006/main" prst="roundRect">
            <a:avLst>
              <a:gd name="adj" fmla="val 1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2F061-0D7C-49A1-A444-7E04B280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5070"/>
            <a:ext cx="443484" cy="369570"/>
          </a:xfrm>
          <a:prstGeom xmlns:a="http://schemas.openxmlformats.org/drawingml/2006/main" prst="roundRect">
            <a:avLst>
              <a:gd name="adj" fmla="val 2061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CEEA2-D4D0-4DB6-A668-A8B83A4F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803D"/>
                </a:solidFill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D0251-CBB2-4F51-8EC1-2C1AA238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5010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33"/>
                </a:solidFill>
              </a:defRPr>
            </a:pPr>
            <a:r>
              <a:t>Poster 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B4475-BC1D-41AC-AD65-31934D53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F000D-D750-42C3-98EA-A8E95F2E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861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033"/>
                </a:solidFill>
              </a:defRPr>
            </a:pPr>
            <a:r>
              <a:t>Use 256 vs 512 vs no tiling.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F6655-0EE9-40AC-A3B7-A802A5F0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528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t>Pull the N=50 tiling table directly from GitHub.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1EBA5-FC60-430B-A2B8-9E8BBBAF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FF82A-9010-499E-BB86-621D5E86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148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033"/>
                </a:solidFill>
              </a:defRPr>
            </a:pPr>
            <a:r>
              <a:t>Add checkpoint roles.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7F3B1-7947-4037-BEFD-B6DD785B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005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t>High quality, balanced, high compression.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CDAC6-47E5-45F3-80E4-2CD715C2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2236470"/>
            <a:ext cx="5511800" cy="6968490"/>
          </a:xfrm>
          <a:prstGeom xmlns:a="http://schemas.openxmlformats.org/drawingml/2006/main" prst="roundRect">
            <a:avLst>
              <a:gd name="adj" fmla="val 1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221DA-C2EC-43BB-A459-BA317D28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750" y="2465070"/>
            <a:ext cx="443484" cy="369570"/>
          </a:xfrm>
          <a:prstGeom xmlns:a="http://schemas.openxmlformats.org/drawingml/2006/main" prst="roundRect">
            <a:avLst>
              <a:gd name="adj" fmla="val 2061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60C54-0CCA-46F4-82C9-A4829611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33650"/>
            <a:ext cx="9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D97706"/>
                </a:solidFill>
              </a:defRPr>
            </a:pPr>
            <a: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98422-CC68-4C44-AA2C-FFF90EB4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90850"/>
            <a:ext cx="5010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33"/>
                </a:solidFill>
              </a:defRPr>
            </a:pPr>
            <a:r>
              <a:t>Poster figures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135E6-4B8B-48A4-8F7A-FA2B26C8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F13F6C-8D15-4F14-B80E-70C1B1B9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861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033"/>
                </a:solidFill>
              </a:defRPr>
            </a:pPr>
            <a:r>
              <a:t>Place one poster panel.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2736D-090E-4550-8CAF-F6F36DCC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528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t>Use 256 panel as primary visual evidence.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5A4E90-89C1-47FF-A0E3-377E6DA6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14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8C3B03-8578-4DD8-BF05-1E9E88B7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148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033"/>
                </a:solidFill>
              </a:defRPr>
            </a:pPr>
            <a:r>
              <a:t>Regenerate from raw if needed.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120DA8-ADDF-4996-9AF5-0030C1C5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005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t>Use `make_poster_panels.py` on DeltaAI.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FBE4C5-8BE6-4AEE-B259-B76CF208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2236470"/>
            <a:ext cx="5511800" cy="6968490"/>
          </a:xfrm>
          <a:prstGeom xmlns:a="http://schemas.openxmlformats.org/drawingml/2006/main" prst="roundRect">
            <a:avLst>
              <a:gd name="adj" fmla="val 1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B2ED32-FE02-4FD2-B5BD-9FF06E35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0" y="2465070"/>
            <a:ext cx="443484" cy="369570"/>
          </a:xfrm>
          <a:prstGeom xmlns:a="http://schemas.openxmlformats.org/drawingml/2006/main" prst="roundRect">
            <a:avLst>
              <a:gd name="adj" fmla="val 2061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253C73-BF2A-4D16-965B-C4C3125D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533650"/>
            <a:ext cx="9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563EB"/>
                </a:solidFill>
              </a:defRPr>
            </a:pPr>
            <a: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2DE2B2-1217-4AF1-B689-7A3843FB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990850"/>
            <a:ext cx="5010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33"/>
                </a:solidFill>
              </a:defRPr>
            </a:pPr>
            <a:r>
              <a:t>Group 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0AD1C0-B427-492A-9245-45E87279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486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3FE865-5D7C-455C-8724-6400F610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4861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033"/>
                </a:solidFill>
              </a:defRPr>
            </a:pPr>
            <a:r>
              <a:t>Say what is done.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7B78DF-91FE-408D-A98B-298C6281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7528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t>Tiling, compression, and visual QA are all committed.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3DBF86-6B29-483C-A42E-193F1F10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114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F0B162-8C78-485C-B85F-AE1C207D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1148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033"/>
                </a:solidFill>
              </a:defRPr>
            </a:pPr>
            <a:r>
              <a:t>Ask for poster placement feedback.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B0ECED-3628-4A0F-BB8E-39B120C8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4005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t>The next choice is layout emphasis.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9ACB2D-19EE-4222-B16D-CDC7859E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67850"/>
            <a:ext cx="386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B7280"/>
                </a:solidFill>
              </a:defRPr>
            </a:pPr>
            <a:r>
              <a:t>Source: GitHub main branch after commits 47f85fb and 5fd6756.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E3A977-4899-439F-A91E-8EB29A5E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9544050"/>
            <a:ext cx="2019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B7280"/>
                </a:solidFill>
              </a:defRPr>
            </a:pPr>
            <a:r>
              <a:t>SC26 CDC update | May 22, 2026</a:t>
            </a:r>
          </a:p>
        </p:txBody>
      </p:sp>
    </p:spTree>
    <p:extLst>
      <p:ext uri="{BB962C8B-B14F-4D97-AF65-F5344CB8AC3E}">
        <p14:creationId xmlns:p14="http://schemas.microsoft.com/office/powerpoint/2010/main" val="735360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2026-05-22T01:15:28.9950000Z</dcterms:created>
  <dcterms:modified xsi:type="dcterms:W3CDTF">2026-05-22T01:15:28.9950000Z</dcterms:modified>
</coreProperties>
</file>