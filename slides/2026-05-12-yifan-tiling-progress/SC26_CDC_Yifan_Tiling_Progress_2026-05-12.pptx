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B32"/>
          </a:solidFill>
          <a:ln w="9525">
            <a:solidFill>
              <a:srgbClr val="0B1B32"/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723900" y="1651635"/>
            <a:ext cx="1248251" cy="586740"/>
          </a:xfrm>
          <a:prstGeom prst="roundRect">
            <a:avLst>
              <a:gd name="adj" fmla="val 12987"/>
            </a:avLst>
          </a:prstGeom>
          <a:solidFill>
            <a:srgbClr val="12345C"/>
          </a:solidFill>
          <a:ln w="9525">
            <a:solidFill>
              <a:srgbClr val="12345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95350" y="1733550"/>
            <a:ext cx="9144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 i="0">
                <a:solidFill>
                  <a:srgbClr val="BFE8FF"/>
                </a:solidFill>
              </a:defRPr>
            </a:pPr>
            <a:r>
              <a:rPr sz="1425" b="1" i="0">
                <a:solidFill>
                  <a:srgbClr val="BFE8FF"/>
                </a:solidFill>
              </a:rPr>
              <a:t>SC26 CDC</a:t>
            </a:r>
            <a:endParaRPr sz="1425" b="1" i="0">
              <a:solidFill>
                <a:srgbClr val="BFE8FF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2086451" y="1651635"/>
            <a:ext cx="1246918" cy="369570"/>
          </a:xfrm>
          <a:prstGeom prst="roundRect">
            <a:avLst>
              <a:gd name="adj" fmla="val 20619"/>
            </a:avLst>
          </a:prstGeom>
          <a:solidFill>
            <a:srgbClr val="163B32"/>
          </a:solidFill>
          <a:ln w="9525">
            <a:solidFill>
              <a:srgbClr val="163B3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2266950" y="1733550"/>
            <a:ext cx="895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 i="0">
                <a:solidFill>
                  <a:srgbClr val="C9F4E8"/>
                </a:solidFill>
              </a:defRPr>
            </a:pPr>
            <a:r>
              <a:rPr sz="1425" b="1" i="0">
                <a:solidFill>
                  <a:srgbClr val="C9F4E8"/>
                </a:solidFill>
              </a:rPr>
              <a:t>Yifan tiling</a:t>
            </a:r>
            <a:endParaRPr sz="1425" b="1" i="0">
              <a:solidFill>
                <a:srgbClr val="C9F4E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2514600"/>
            <a:ext cx="7965440" cy="2400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250" b="1" i="0">
                <a:solidFill>
                  <a:srgbClr val="FFFFFF"/>
                </a:solidFill>
              </a:defRPr>
            </a:pPr>
            <a:r>
              <a:rPr sz="5250" b="1" i="0">
                <a:solidFill>
                  <a:srgbClr val="FFFFFF"/>
                </a:solidFill>
              </a:rPr>
              <a:t>Tiling Makes Full-Resolution Compression Practical</a:t>
            </a:r>
            <a:endParaRPr sz="5250" b="1" i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5181600"/>
            <a:ext cx="7200900" cy="1009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 i="0">
                <a:solidFill>
                  <a:srgbClr val="D7E3F5"/>
                </a:solidFill>
              </a:defRPr>
            </a:pPr>
            <a:r>
              <a:rPr sz="2175" b="0" i="0">
                <a:solidFill>
                  <a:srgbClr val="D7E3F5"/>
                </a:solidFill>
              </a:rPr>
              <a:t>DeltaAI GH200 pilot shows 512 x 512 tiles cut runtime and memory without obvious stitching artifacts in the checked sample.</a:t>
            </a:r>
            <a:endParaRPr sz="2175" b="0" i="0">
              <a:solidFill>
                <a:srgbClr val="D7E3F5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23900" y="6433185"/>
            <a:ext cx="2742724" cy="1695450"/>
          </a:xfrm>
          <a:prstGeom prst="roundRect">
            <a:avLst>
              <a:gd name="adj" fmla="val 4494"/>
            </a:avLst>
          </a:prstGeom>
          <a:solidFill>
            <a:srgbClr val="102848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6610350"/>
            <a:ext cx="2324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Runtime</a:t>
            </a:r>
            <a:endParaRPr sz="1350" b="1" i="0">
              <a:solidFill>
                <a:srgbClr val="5B667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3450" y="7086600"/>
            <a:ext cx="23241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7DD3FC"/>
                </a:solidFill>
              </a:defRPr>
            </a:pPr>
            <a:r>
              <a:rPr sz="2550" b="1" i="0">
                <a:solidFill>
                  <a:srgbClr val="7DD3FC"/>
                </a:solidFill>
              </a:rPr>
              <a:t>86.01s</a:t>
            </a:r>
            <a:endParaRPr sz="2550" b="1" i="0">
              <a:solidFill>
                <a:srgbClr val="7DD3FC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33450" y="7753350"/>
            <a:ext cx="2324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per image with 512 tiles</a:t>
            </a:r>
            <a:endParaRPr sz="1350" b="0" i="0">
              <a:solidFill>
                <a:srgbClr val="5B667A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3638074" y="6433185"/>
            <a:ext cx="2742724" cy="1695450"/>
          </a:xfrm>
          <a:prstGeom prst="roundRect">
            <a:avLst>
              <a:gd name="adj" fmla="val 4494"/>
            </a:avLst>
          </a:prstGeom>
          <a:solidFill>
            <a:srgbClr val="102848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848100" y="6610350"/>
            <a:ext cx="2324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Memory</a:t>
            </a:r>
            <a:endParaRPr sz="1350" b="1" i="0">
              <a:solidFill>
                <a:srgbClr val="5B667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848100" y="7086600"/>
            <a:ext cx="23241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86EFAC"/>
                </a:solidFill>
              </a:defRPr>
            </a:pPr>
            <a:r>
              <a:rPr sz="2550" b="1" i="0">
                <a:solidFill>
                  <a:srgbClr val="86EFAC"/>
                </a:solidFill>
              </a:rPr>
              <a:t>3.0 GB</a:t>
            </a:r>
            <a:endParaRPr sz="2550" b="1" i="0">
              <a:solidFill>
                <a:srgbClr val="86EFAC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848100" y="7753350"/>
            <a:ext cx="2324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17.2x lower than no tiling</a:t>
            </a:r>
            <a:endParaRPr sz="1350" b="0" i="0">
              <a:solidFill>
                <a:srgbClr val="5B667A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552248" y="6433185"/>
            <a:ext cx="2742724" cy="1695450"/>
          </a:xfrm>
          <a:prstGeom prst="roundRect">
            <a:avLst>
              <a:gd name="adj" fmla="val 4494"/>
            </a:avLst>
          </a:prstGeom>
          <a:solidFill>
            <a:srgbClr val="102848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762750" y="6610350"/>
            <a:ext cx="2324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Artifacts</a:t>
            </a:r>
            <a:endParaRPr sz="1350" b="1" i="0">
              <a:solidFill>
                <a:srgbClr val="5B667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762750" y="6896100"/>
            <a:ext cx="232410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DBA74"/>
                </a:solidFill>
              </a:defRPr>
            </a:pPr>
            <a:r>
              <a:rPr sz="2550" b="1" i="0">
                <a:solidFill>
                  <a:srgbClr val="FDBA74"/>
                </a:solidFill>
              </a:rPr>
              <a:t>No obvious seams</a:t>
            </a:r>
            <a:endParaRPr sz="2550" b="1" i="0">
              <a:solidFill>
                <a:srgbClr val="FDBA74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762750" y="7753350"/>
            <a:ext cx="2324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checked visual sample</a:t>
            </a:r>
            <a:endParaRPr sz="1350" b="0" i="0">
              <a:solidFill>
                <a:srgbClr val="5B667A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23900" y="8401050"/>
            <a:ext cx="8572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B9C7DD"/>
                </a:solidFill>
              </a:defRPr>
            </a:pPr>
            <a:r>
              <a:rPr sz="1575" b="0" i="0">
                <a:solidFill>
                  <a:srgbClr val="B9C7DD"/>
                </a:solidFill>
              </a:rPr>
              <a:t>Prepared for the week ending May 12, 2026</a:t>
            </a:r>
            <a:endParaRPr sz="1575" b="0" i="0">
              <a:solidFill>
                <a:srgbClr val="B9C7DD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9809321" y="666750"/>
            <a:ext cx="7754779" cy="8953500"/>
          </a:xfrm>
          <a:prstGeom prst="roundRect">
            <a:avLst>
              <a:gd name="adj" fmla="val 983"/>
            </a:avLst>
          </a:prstGeom>
          <a:solidFill>
            <a:srgbClr val="FFFFFF"/>
          </a:solidFill>
          <a:ln w="9525">
            <a:solidFill>
              <a:srgbClr val="223B5C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 l="19884" r="19884"/>
          <a:stretch>
            <a:fillRect/>
          </a:stretch>
        </p:blipFill>
        <p:spPr>
          <a:xfrm>
            <a:off x="9980771" y="838200"/>
            <a:ext cx="7411879" cy="8252460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9982200" y="9239250"/>
            <a:ext cx="7410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Visual evidence: stitched 512 x 512 tiled output, image 100_0005_0001</a:t>
            </a:r>
            <a:endParaRPr sz="1350" b="0" i="0">
              <a:solidFill>
                <a:srgbClr val="5B667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3" name="slide-title"/>
          <p:cNvSpPr>
            <a:spLocks noGrp="1"/>
          </p:cNvSpPr>
          <p:nvPr/>
        </p:nvSpPr>
        <p:spPr>
          <a:xfrm>
            <a:off x="685800" y="514350"/>
            <a:ext cx="169164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 i="0">
                <a:solidFill>
                  <a:srgbClr val="172033"/>
                </a:solidFill>
              </a:defRPr>
            </a:pPr>
            <a:r>
              <a:rPr sz="3750" b="1" i="0">
                <a:solidFill>
                  <a:srgbClr val="172033"/>
                </a:solidFill>
              </a:rPr>
              <a:t>This Week's Task Was Narrow and Testable</a:t>
            </a:r>
            <a:endParaRPr sz="3750" b="1" i="0">
              <a:solidFill>
                <a:srgbClr val="172033"/>
              </a:solidFill>
            </a:endParaRPr>
          </a:p>
        </p:txBody>
      </p:sp>
      <p:sp>
        <p:nvSpPr>
          <p:cNvPr id="4" name="slide-subtitle"/>
          <p:cNvSpPr>
            <a:spLocks noGrp="1"/>
          </p:cNvSpPr>
          <p:nvPr/>
        </p:nvSpPr>
        <p:spPr>
          <a:xfrm>
            <a:off x="685800" y="1200150"/>
            <a:ext cx="11887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5B667A"/>
                </a:solidFill>
              </a:defRPr>
            </a:pPr>
            <a:r>
              <a:rPr sz="1800" b="0" i="0">
                <a:solidFill>
                  <a:srgbClr val="5B667A"/>
                </a:solidFill>
              </a:rPr>
              <a:t>We focused only on Yifan's tiling path: split, compress independently, stitch, then check speed, memory, quality, and seams.</a:t>
            </a:r>
            <a:endParaRPr sz="1800" b="0" i="0">
              <a:solidFill>
                <a:srgbClr val="5B667A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2019300"/>
            <a:ext cx="17145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2320290"/>
            <a:ext cx="4100513" cy="5147310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933450" y="2548890"/>
            <a:ext cx="443484" cy="369570"/>
          </a:xfrm>
          <a:prstGeom prst="roundRect">
            <a:avLst>
              <a:gd name="adj" fmla="val 20619"/>
            </a:avLst>
          </a:prstGeom>
          <a:solidFill>
            <a:srgbClr val="EAF1FF"/>
          </a:solidFill>
          <a:ln w="9525">
            <a:solidFill>
              <a:srgbClr val="EAF1F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04900" y="2628900"/>
            <a:ext cx="95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 i="0">
                <a:solidFill>
                  <a:srgbClr val="2563EB"/>
                </a:solidFill>
              </a:defRPr>
            </a:pPr>
            <a:r>
              <a:rPr sz="1425" b="1" i="0">
                <a:solidFill>
                  <a:srgbClr val="2563EB"/>
                </a:solidFill>
              </a:rPr>
              <a:t>1</a:t>
            </a:r>
            <a:endParaRPr sz="1425" b="1" i="0">
              <a:solidFill>
                <a:srgbClr val="2563E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3086100"/>
            <a:ext cx="36004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172033"/>
                </a:solidFill>
              </a:defRPr>
            </a:pPr>
            <a:r>
              <a:rPr sz="2325" b="1" i="0">
                <a:solidFill>
                  <a:srgbClr val="172033"/>
                </a:solidFill>
              </a:rPr>
              <a:t>Split</a:t>
            </a:r>
            <a:endParaRPr sz="2325" b="1" i="0">
              <a:solidFill>
                <a:srgbClr val="17203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3619500"/>
            <a:ext cx="36004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5B667A"/>
                </a:solidFill>
              </a:defRPr>
            </a:pPr>
            <a:r>
              <a:rPr sz="1575" b="0" i="0">
                <a:solidFill>
                  <a:srgbClr val="5B667A"/>
                </a:solidFill>
              </a:rPr>
              <a:t>Full-resolution images are cropped to 5440 x 3648, then split into 512, 1024, or 2048 patches.</a:t>
            </a:r>
            <a:endParaRPr sz="1575" b="0" i="0">
              <a:solidFill>
                <a:srgbClr val="5B667A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957763" y="2320290"/>
            <a:ext cx="4100513" cy="5147310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5205413" y="2548890"/>
            <a:ext cx="443484" cy="369570"/>
          </a:xfrm>
          <a:prstGeom prst="roundRect">
            <a:avLst>
              <a:gd name="adj" fmla="val 20619"/>
            </a:avLst>
          </a:prstGeom>
          <a:solidFill>
            <a:srgbClr val="E7F6F2"/>
          </a:solidFill>
          <a:ln w="9525">
            <a:solidFill>
              <a:srgbClr val="E7F6F2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372100" y="2628900"/>
            <a:ext cx="95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 i="0">
                <a:solidFill>
                  <a:srgbClr val="0F766E"/>
                </a:solidFill>
              </a:defRPr>
            </a:pPr>
            <a:r>
              <a:rPr sz="1425" b="1" i="0">
                <a:solidFill>
                  <a:srgbClr val="0F766E"/>
                </a:solidFill>
              </a:rPr>
              <a:t>2</a:t>
            </a:r>
            <a:endParaRPr sz="1425" b="1" i="0">
              <a:solidFill>
                <a:srgbClr val="0F766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200650" y="3086100"/>
            <a:ext cx="36004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172033"/>
                </a:solidFill>
              </a:defRPr>
            </a:pPr>
            <a:r>
              <a:rPr sz="2325" b="1" i="0">
                <a:solidFill>
                  <a:srgbClr val="172033"/>
                </a:solidFill>
              </a:rPr>
              <a:t>Compress</a:t>
            </a:r>
            <a:endParaRPr sz="2325" b="1" i="0">
              <a:solidFill>
                <a:srgbClr val="17203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200650" y="3619500"/>
            <a:ext cx="36004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5B667A"/>
                </a:solidFill>
              </a:defRPr>
            </a:pPr>
            <a:r>
              <a:rPr sz="1575" b="0" i="0">
                <a:solidFill>
                  <a:srgbClr val="5B667A"/>
                </a:solidFill>
              </a:rPr>
              <a:t>Each tile runs through the pretrained baseline_b02048 checkpoint with 65 denoising steps.</a:t>
            </a:r>
            <a:endParaRPr sz="1575" b="0" i="0">
              <a:solidFill>
                <a:srgbClr val="5B667A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229725" y="2320290"/>
            <a:ext cx="4100513" cy="5147310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9477375" y="2548890"/>
            <a:ext cx="443484" cy="369570"/>
          </a:xfrm>
          <a:prstGeom prst="roundRect">
            <a:avLst>
              <a:gd name="adj" fmla="val 20619"/>
            </a:avLst>
          </a:prstGeom>
          <a:solidFill>
            <a:srgbClr val="FFF7ED"/>
          </a:solidFill>
          <a:ln w="9525">
            <a:solidFill>
              <a:srgbClr val="FFF7ED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658350" y="2628900"/>
            <a:ext cx="95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 i="0">
                <a:solidFill>
                  <a:srgbClr val="D97706"/>
                </a:solidFill>
              </a:defRPr>
            </a:pPr>
            <a:r>
              <a:rPr sz="1425" b="1" i="0">
                <a:solidFill>
                  <a:srgbClr val="D97706"/>
                </a:solidFill>
              </a:rPr>
              <a:t>3</a:t>
            </a:r>
            <a:endParaRPr sz="1425" b="1" i="0">
              <a:solidFill>
                <a:srgbClr val="D9770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486900" y="3086100"/>
            <a:ext cx="36004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172033"/>
                </a:solidFill>
              </a:defRPr>
            </a:pPr>
            <a:r>
              <a:rPr sz="2325" b="1" i="0">
                <a:solidFill>
                  <a:srgbClr val="172033"/>
                </a:solidFill>
              </a:rPr>
              <a:t>Stitch</a:t>
            </a:r>
            <a:endParaRPr sz="2325" b="1" i="0">
              <a:solidFill>
                <a:srgbClr val="17203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486900" y="3619500"/>
            <a:ext cx="36004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5B667A"/>
                </a:solidFill>
              </a:defRPr>
            </a:pPr>
            <a:r>
              <a:rPr sz="1575" b="0" i="0">
                <a:solidFill>
                  <a:srgbClr val="5B667A"/>
                </a:solidFill>
              </a:rPr>
              <a:t>Tiles are assembled back into one image and saved with visual examples for inspection.</a:t>
            </a:r>
            <a:endParaRPr sz="1575" b="0" i="0">
              <a:solidFill>
                <a:srgbClr val="5B667A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13501688" y="2320290"/>
            <a:ext cx="4100513" cy="5147310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13749338" y="2548890"/>
            <a:ext cx="443484" cy="369570"/>
          </a:xfrm>
          <a:prstGeom prst="roundRect">
            <a:avLst>
              <a:gd name="adj" fmla="val 20619"/>
            </a:avLst>
          </a:prstGeom>
          <a:solidFill>
            <a:srgbClr val="EEF2FF"/>
          </a:solidFill>
          <a:ln w="9525">
            <a:solidFill>
              <a:srgbClr val="EEF2F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3925550" y="2628900"/>
            <a:ext cx="95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 i="0">
                <a:solidFill>
                  <a:srgbClr val="2563EB"/>
                </a:solidFill>
              </a:defRPr>
            </a:pPr>
            <a:r>
              <a:rPr sz="1425" b="1" i="0">
                <a:solidFill>
                  <a:srgbClr val="2563EB"/>
                </a:solidFill>
              </a:rPr>
              <a:t>4</a:t>
            </a:r>
            <a:endParaRPr sz="1425" b="1" i="0">
              <a:solidFill>
                <a:srgbClr val="2563EB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3754100" y="3086100"/>
            <a:ext cx="36004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172033"/>
                </a:solidFill>
              </a:defRPr>
            </a:pPr>
            <a:r>
              <a:rPr sz="2325" b="1" i="0">
                <a:solidFill>
                  <a:srgbClr val="172033"/>
                </a:solidFill>
              </a:rPr>
              <a:t>Measure</a:t>
            </a:r>
            <a:endParaRPr sz="2325" b="1" i="0">
              <a:solidFill>
                <a:srgbClr val="17203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3754100" y="3619500"/>
            <a:ext cx="36004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5B667A"/>
                </a:solidFill>
              </a:defRPr>
            </a:pPr>
            <a:r>
              <a:rPr sz="1575" b="0" i="0">
                <a:solidFill>
                  <a:srgbClr val="5B667A"/>
                </a:solidFill>
              </a:rPr>
              <a:t>Summary records runtime, peak GPU memory, compression ratio, PSNR, SSIM, and seam metrics.</a:t>
            </a:r>
            <a:endParaRPr sz="1575" b="0" i="0">
              <a:solidFill>
                <a:srgbClr val="5B667A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85800" y="7734300"/>
            <a:ext cx="41148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95350" y="7905750"/>
            <a:ext cx="3695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Pilot size</a:t>
            </a:r>
            <a:endParaRPr sz="1350" b="1" i="0">
              <a:solidFill>
                <a:srgbClr val="5B667A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95350" y="8248650"/>
            <a:ext cx="36957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2563EB"/>
                </a:solidFill>
              </a:defRPr>
            </a:pPr>
            <a:r>
              <a:rPr sz="2550" b="1" i="0">
                <a:solidFill>
                  <a:srgbClr val="2563EB"/>
                </a:solidFill>
              </a:rPr>
              <a:t>8 images</a:t>
            </a:r>
            <a:endParaRPr sz="2550" b="1" i="0">
              <a:solidFill>
                <a:srgbClr val="2563EB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95350" y="8782050"/>
            <a:ext cx="3695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after one-image smoke test</a:t>
            </a:r>
            <a:endParaRPr sz="1350" b="0" i="0">
              <a:solidFill>
                <a:srgbClr val="5B667A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4953000" y="7734300"/>
            <a:ext cx="41148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162550" y="7905750"/>
            <a:ext cx="3695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GPU target</a:t>
            </a:r>
            <a:endParaRPr sz="1350" b="1" i="0">
              <a:solidFill>
                <a:srgbClr val="5B667A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162550" y="8248650"/>
            <a:ext cx="36957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0F766E"/>
                </a:solidFill>
              </a:defRPr>
            </a:pPr>
            <a:r>
              <a:rPr sz="2550" b="1" i="0">
                <a:solidFill>
                  <a:srgbClr val="0F766E"/>
                </a:solidFill>
              </a:rPr>
              <a:t>GH200</a:t>
            </a:r>
            <a:endParaRPr sz="2550" b="1" i="0">
              <a:solidFill>
                <a:srgbClr val="0F766E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162550" y="8782050"/>
            <a:ext cx="3695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DeltaAI ghx4 partition</a:t>
            </a:r>
            <a:endParaRPr sz="1350" b="0" i="0">
              <a:solidFill>
                <a:srgbClr val="5B667A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9220200" y="7734300"/>
            <a:ext cx="41148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429750" y="7905750"/>
            <a:ext cx="3695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Reference</a:t>
            </a:r>
            <a:endParaRPr sz="1350" b="1" i="0">
              <a:solidFill>
                <a:srgbClr val="5B667A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429750" y="8248650"/>
            <a:ext cx="36957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D97706"/>
                </a:solidFill>
              </a:defRPr>
            </a:pPr>
            <a:r>
              <a:rPr sz="2550" b="1" i="0">
                <a:solidFill>
                  <a:srgbClr val="D97706"/>
                </a:solidFill>
              </a:rPr>
              <a:t>No tiling</a:t>
            </a:r>
            <a:endParaRPr sz="2550" b="1" i="0">
              <a:solidFill>
                <a:srgbClr val="D97706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429750" y="8782050"/>
            <a:ext cx="3695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full-image baseline</a:t>
            </a:r>
            <a:endParaRPr sz="1350" b="0" i="0">
              <a:solidFill>
                <a:srgbClr val="5B667A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13487400" y="7734300"/>
            <a:ext cx="41148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3696950" y="7905750"/>
            <a:ext cx="3695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Tile sizes</a:t>
            </a:r>
            <a:endParaRPr sz="1350" b="1" i="0">
              <a:solidFill>
                <a:srgbClr val="5B667A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3696950" y="8248650"/>
            <a:ext cx="36957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15803D"/>
                </a:solidFill>
              </a:defRPr>
            </a:pPr>
            <a:r>
              <a:rPr sz="2550" b="1" i="0">
                <a:solidFill>
                  <a:srgbClr val="15803D"/>
                </a:solidFill>
              </a:rPr>
              <a:t>512 / 1024 / 2048</a:t>
            </a:r>
            <a:endParaRPr sz="2550" b="1" i="0">
              <a:solidFill>
                <a:srgbClr val="15803D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3696950" y="8782050"/>
            <a:ext cx="3695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all completed</a:t>
            </a:r>
            <a:endParaRPr sz="1350" b="0" i="0">
              <a:solidFill>
                <a:srgbClr val="5B667A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85800" y="9505950"/>
            <a:ext cx="68961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Source: experiments/compression/slurm/03_tiling_sweep.sbatch and run stamp 20260512_yifan_tiling_pilot.</a:t>
            </a:r>
            <a:endParaRPr sz="1125" b="0" i="0">
              <a:solidFill>
                <a:srgbClr val="6B7280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4897100" y="9429750"/>
            <a:ext cx="27051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CDC tiling weekly progress | May 12, 2026</a:t>
            </a:r>
            <a:endParaRPr sz="1125" b="0" i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3" name="slide-title"/>
          <p:cNvSpPr>
            <a:spLocks noGrp="1"/>
          </p:cNvSpPr>
          <p:nvPr/>
        </p:nvSpPr>
        <p:spPr>
          <a:xfrm>
            <a:off x="685800" y="514350"/>
            <a:ext cx="169164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 i="0">
                <a:solidFill>
                  <a:srgbClr val="172033"/>
                </a:solidFill>
              </a:defRPr>
            </a:pPr>
            <a:r>
              <a:rPr sz="3750" b="1" i="0">
                <a:solidFill>
                  <a:srgbClr val="172033"/>
                </a:solidFill>
              </a:rPr>
              <a:t>512 x 512 Is the Current Speed and Memory Winner</a:t>
            </a:r>
            <a:endParaRPr sz="3750" b="1" i="0">
              <a:solidFill>
                <a:srgbClr val="172033"/>
              </a:solidFill>
            </a:endParaRPr>
          </a:p>
        </p:txBody>
      </p:sp>
      <p:sp>
        <p:nvSpPr>
          <p:cNvPr id="4" name="slide-subtitle"/>
          <p:cNvSpPr>
            <a:spLocks noGrp="1"/>
          </p:cNvSpPr>
          <p:nvPr/>
        </p:nvSpPr>
        <p:spPr>
          <a:xfrm>
            <a:off x="685800" y="1200150"/>
            <a:ext cx="10287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5B667A"/>
                </a:solidFill>
              </a:defRPr>
            </a:pPr>
            <a:r>
              <a:rPr sz="1800" b="0" i="0">
                <a:solidFill>
                  <a:srgbClr val="5B667A"/>
                </a:solidFill>
              </a:rPr>
              <a:t>Across the eight-image pilot, smaller tiles gave the fastest runtime and the largest memory reduction.</a:t>
            </a:r>
            <a:endParaRPr sz="1800" b="0" i="0">
              <a:solidFill>
                <a:srgbClr val="5B667A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733550"/>
            <a:ext cx="17145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2045970"/>
            <a:ext cx="7908608" cy="711708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33450" y="2266950"/>
            <a:ext cx="74104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72033"/>
                </a:solidFill>
              </a:defRPr>
            </a:pPr>
            <a:r>
              <a:rPr sz="2250" b="1" i="0">
                <a:solidFill>
                  <a:srgbClr val="172033"/>
                </a:solidFill>
              </a:rPr>
              <a:t>Pilot Summary</a:t>
            </a:r>
            <a:endParaRPr sz="2250" b="1" i="0">
              <a:solidFill>
                <a:srgbClr val="17203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788920"/>
            <a:ext cx="1817762" cy="400050"/>
          </a:xfrm>
          <a:prstGeom prst="rect">
            <a:avLst/>
          </a:prstGeom>
          <a:solidFill>
            <a:srgbClr val="0B1B32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2857500"/>
            <a:ext cx="15811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Setup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751212" y="2788920"/>
            <a:ext cx="1138077" cy="400050"/>
          </a:xfrm>
          <a:prstGeom prst="rect">
            <a:avLst/>
          </a:prstGeom>
          <a:solidFill>
            <a:srgbClr val="0B1B32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857500" y="2857500"/>
            <a:ext cx="9144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Time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889289" y="2788920"/>
            <a:ext cx="1296143" cy="400050"/>
          </a:xfrm>
          <a:prstGeom prst="rect">
            <a:avLst/>
          </a:prstGeom>
          <a:solidFill>
            <a:srgbClr val="0B1B32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000500" y="2857500"/>
            <a:ext cx="10668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Memory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185432" y="2788920"/>
            <a:ext cx="1138077" cy="400050"/>
          </a:xfrm>
          <a:prstGeom prst="rect">
            <a:avLst/>
          </a:prstGeom>
          <a:solidFill>
            <a:srgbClr val="0B1B32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295900" y="2857500"/>
            <a:ext cx="9144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Ratio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323509" y="2788920"/>
            <a:ext cx="980011" cy="400050"/>
          </a:xfrm>
          <a:prstGeom prst="rect">
            <a:avLst/>
          </a:prstGeom>
          <a:solidFill>
            <a:srgbClr val="0B1B32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38900" y="2857500"/>
            <a:ext cx="7429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PSNR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303520" y="2788920"/>
            <a:ext cx="1043237" cy="400050"/>
          </a:xfrm>
          <a:prstGeom prst="rect">
            <a:avLst/>
          </a:prstGeom>
          <a:solidFill>
            <a:srgbClr val="0B1B32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10450" y="2857500"/>
            <a:ext cx="8191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SSIM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33450" y="3208020"/>
            <a:ext cx="1817762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7750" y="3276600"/>
            <a:ext cx="1581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No tiling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751212" y="3208020"/>
            <a:ext cx="1138077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2857500" y="3276600"/>
            <a:ext cx="914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143.55s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889289" y="3208020"/>
            <a:ext cx="1296143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000500" y="3276600"/>
            <a:ext cx="1066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52.0 GB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185432" y="3208020"/>
            <a:ext cx="1138077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295900" y="3276600"/>
            <a:ext cx="914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72.74x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323509" y="3208020"/>
            <a:ext cx="980011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438900" y="3276600"/>
            <a:ext cx="7429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29.88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303520" y="3208020"/>
            <a:ext cx="1043237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410450" y="3276600"/>
            <a:ext cx="819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0.8847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33450" y="3722370"/>
            <a:ext cx="1817762" cy="495300"/>
          </a:xfrm>
          <a:prstGeom prst="rect">
            <a:avLst/>
          </a:prstGeom>
          <a:solidFill>
            <a:srgbClr val="F1F5F9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047750" y="3790950"/>
            <a:ext cx="1581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512 tile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751212" y="3722370"/>
            <a:ext cx="1138077" cy="495300"/>
          </a:xfrm>
          <a:prstGeom prst="rect">
            <a:avLst/>
          </a:prstGeom>
          <a:solidFill>
            <a:srgbClr val="F1F5F9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2857500" y="3790950"/>
            <a:ext cx="914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86.01s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889289" y="3722370"/>
            <a:ext cx="1296143" cy="495300"/>
          </a:xfrm>
          <a:prstGeom prst="rect">
            <a:avLst/>
          </a:prstGeom>
          <a:solidFill>
            <a:srgbClr val="F1F5F9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000500" y="3790950"/>
            <a:ext cx="1066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3.0 GB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185432" y="3722370"/>
            <a:ext cx="1138077" cy="495300"/>
          </a:xfrm>
          <a:prstGeom prst="rect">
            <a:avLst/>
          </a:prstGeom>
          <a:solidFill>
            <a:srgbClr val="F1F5F9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295900" y="3790950"/>
            <a:ext cx="914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68.79x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323509" y="3722370"/>
            <a:ext cx="980011" cy="495300"/>
          </a:xfrm>
          <a:prstGeom prst="rect">
            <a:avLst/>
          </a:prstGeom>
          <a:solidFill>
            <a:srgbClr val="F1F5F9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438900" y="3790950"/>
            <a:ext cx="7429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29.73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303520" y="3722370"/>
            <a:ext cx="1043237" cy="495300"/>
          </a:xfrm>
          <a:prstGeom prst="rect">
            <a:avLst/>
          </a:prstGeom>
          <a:solidFill>
            <a:srgbClr val="F1F5F9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7410450" y="3790950"/>
            <a:ext cx="819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0.8822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33450" y="4236720"/>
            <a:ext cx="1817762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47750" y="4305300"/>
            <a:ext cx="1581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1024 tile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751212" y="4236720"/>
            <a:ext cx="1138077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2857500" y="4305300"/>
            <a:ext cx="914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88.35s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3889289" y="4236720"/>
            <a:ext cx="1296143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4000500" y="4305300"/>
            <a:ext cx="1066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11.2 GB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5185432" y="4236720"/>
            <a:ext cx="1138077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5295900" y="4305300"/>
            <a:ext cx="914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66.11x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323509" y="4236720"/>
            <a:ext cx="980011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438900" y="4305300"/>
            <a:ext cx="7429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29.82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7303520" y="4236720"/>
            <a:ext cx="1043237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7410450" y="4305300"/>
            <a:ext cx="819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0.8835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933450" y="4751070"/>
            <a:ext cx="1817762" cy="495300"/>
          </a:xfrm>
          <a:prstGeom prst="rect">
            <a:avLst/>
          </a:prstGeom>
          <a:solidFill>
            <a:srgbClr val="F1F5F9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1047750" y="4819650"/>
            <a:ext cx="1581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2048 tile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2751212" y="4751070"/>
            <a:ext cx="1138077" cy="495300"/>
          </a:xfrm>
          <a:prstGeom prst="rect">
            <a:avLst/>
          </a:prstGeom>
          <a:solidFill>
            <a:srgbClr val="F1F5F9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2857500" y="4819650"/>
            <a:ext cx="914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95.39s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3889289" y="4751070"/>
            <a:ext cx="1296143" cy="495300"/>
          </a:xfrm>
          <a:prstGeom prst="rect">
            <a:avLst/>
          </a:prstGeom>
          <a:solidFill>
            <a:srgbClr val="F1F5F9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4000500" y="4819650"/>
            <a:ext cx="1066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43.8 GB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5185432" y="4751070"/>
            <a:ext cx="1138077" cy="495300"/>
          </a:xfrm>
          <a:prstGeom prst="rect">
            <a:avLst/>
          </a:prstGeom>
          <a:solidFill>
            <a:srgbClr val="F1F5F9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5295900" y="4819650"/>
            <a:ext cx="914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66.04x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6323509" y="4751070"/>
            <a:ext cx="980011" cy="495300"/>
          </a:xfrm>
          <a:prstGeom prst="rect">
            <a:avLst/>
          </a:prstGeom>
          <a:solidFill>
            <a:srgbClr val="F1F5F9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6438900" y="4819650"/>
            <a:ext cx="7429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29.90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7303520" y="4751070"/>
            <a:ext cx="1043237" cy="495300"/>
          </a:xfrm>
          <a:prstGeom prst="rect">
            <a:avLst/>
          </a:prstGeom>
          <a:solidFill>
            <a:srgbClr val="F1F5F9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7410450" y="4819650"/>
            <a:ext cx="819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0.8841</a:t>
            </a:r>
            <a:endParaRPr sz="1275" b="0" i="0">
              <a:solidFill>
                <a:srgbClr val="172033"/>
              </a:solidFill>
            </a:endParaRP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8861108" y="2045970"/>
            <a:ext cx="8741093" cy="711708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9105900" y="2266950"/>
            <a:ext cx="8248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72033"/>
                </a:solidFill>
              </a:defRPr>
            </a:pPr>
            <a:r>
              <a:rPr sz="2250" b="1" i="0">
                <a:solidFill>
                  <a:srgbClr val="172033"/>
                </a:solidFill>
              </a:rPr>
              <a:t>What the Numbers Say</a:t>
            </a:r>
            <a:endParaRPr sz="2250" b="1" i="0">
              <a:solidFill>
                <a:srgbClr val="172033"/>
              </a:solidFill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9105900" y="28956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172033"/>
                </a:solidFill>
              </a:defRPr>
            </a:pPr>
            <a:r>
              <a:rPr sz="1500" b="1" i="0">
                <a:solidFill>
                  <a:srgbClr val="172033"/>
                </a:solidFill>
              </a:rPr>
              <a:t>No tiling runtime</a:t>
            </a:r>
            <a:endParaRPr sz="1500" b="1" i="0">
              <a:solidFill>
                <a:srgbClr val="172033"/>
              </a:solidFill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16935450" y="2781300"/>
            <a:ext cx="4191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5B667A"/>
                </a:solidFill>
              </a:defRPr>
            </a:pPr>
            <a:r>
              <a:rPr sz="1500" b="1" i="0">
                <a:solidFill>
                  <a:srgbClr val="5B667A"/>
                </a:solidFill>
              </a:rPr>
              <a:t>144s</a:t>
            </a:r>
            <a:endParaRPr sz="1500" b="1" i="0">
              <a:solidFill>
                <a:srgbClr val="5B667A"/>
              </a:solidFill>
            </a:endParaRPr>
          </a:p>
        </p:txBody>
      </p:sp>
      <p:sp>
        <p:nvSpPr>
          <p:cNvPr id="72" name="圆角矩形 71"/>
          <p:cNvSpPr>
            <a:spLocks noGrp="1"/>
          </p:cNvSpPr>
          <p:nvPr/>
        </p:nvSpPr>
        <p:spPr>
          <a:xfrm>
            <a:off x="9144000" y="3352800"/>
            <a:ext cx="4953000" cy="171450"/>
          </a:xfrm>
          <a:prstGeom prst="roundRect">
            <a:avLst>
              <a:gd name="adj" fmla="val 27778"/>
            </a:avLst>
          </a:prstGeom>
          <a:solidFill>
            <a:srgbClr val="5B667A"/>
          </a:solidFill>
          <a:ln w="9525">
            <a:solidFill>
              <a:srgbClr val="5B667A"/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14097000" y="3429000"/>
            <a:ext cx="3276600" cy="19050"/>
          </a:xfrm>
          <a:prstGeom prst="rect">
            <a:avLst/>
          </a:prstGeom>
          <a:solidFill>
            <a:srgbClr val="E4E9F2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9105900" y="3581400"/>
            <a:ext cx="82486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B667A"/>
                </a:solidFill>
              </a:defRPr>
            </a:pPr>
            <a:r>
              <a:rPr sz="1125" b="0" i="0">
                <a:solidFill>
                  <a:srgbClr val="5B667A"/>
                </a:solidFill>
              </a:rPr>
              <a:t>Full-image reference</a:t>
            </a:r>
            <a:endParaRPr sz="1125" b="0" i="0">
              <a:solidFill>
                <a:srgbClr val="5B667A"/>
              </a:solidFill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9105900" y="4038600"/>
            <a:ext cx="1390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172033"/>
                </a:solidFill>
              </a:defRPr>
            </a:pPr>
            <a:r>
              <a:rPr sz="1500" b="1" i="0">
                <a:solidFill>
                  <a:srgbClr val="172033"/>
                </a:solidFill>
              </a:rPr>
              <a:t>512 tile runtime</a:t>
            </a:r>
            <a:endParaRPr sz="1500" b="1" i="0">
              <a:solidFill>
                <a:srgbClr val="172033"/>
              </a:solidFill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16878300" y="3924300"/>
            <a:ext cx="4762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0F766E"/>
                </a:solidFill>
              </a:defRPr>
            </a:pPr>
            <a:r>
              <a:rPr sz="1500" b="1" i="0">
                <a:solidFill>
                  <a:srgbClr val="0F766E"/>
                </a:solidFill>
              </a:rPr>
              <a:t>86.0s</a:t>
            </a:r>
            <a:endParaRPr sz="1500" b="1" i="0">
              <a:solidFill>
                <a:srgbClr val="0F766E"/>
              </a:solidFill>
            </a:endParaRP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9144000" y="4495800"/>
            <a:ext cx="2971800" cy="171450"/>
          </a:xfrm>
          <a:prstGeom prst="roundRect">
            <a:avLst>
              <a:gd name="adj" fmla="val 27778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12115800" y="4572000"/>
            <a:ext cx="5257800" cy="19050"/>
          </a:xfrm>
          <a:prstGeom prst="rect">
            <a:avLst/>
          </a:prstGeom>
          <a:solidFill>
            <a:srgbClr val="E4E9F2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9105900" y="4724400"/>
            <a:ext cx="82486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B667A"/>
                </a:solidFill>
              </a:defRPr>
            </a:pPr>
            <a:r>
              <a:rPr sz="1125" b="0" i="0">
                <a:solidFill>
                  <a:srgbClr val="5B667A"/>
                </a:solidFill>
              </a:rPr>
              <a:t>40.1% lower wall time</a:t>
            </a:r>
            <a:endParaRPr sz="1125" b="0" i="0">
              <a:solidFill>
                <a:srgbClr val="5B667A"/>
              </a:solidFill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9105900" y="5067300"/>
            <a:ext cx="15430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172033"/>
                </a:solidFill>
              </a:defRPr>
            </a:pPr>
            <a:r>
              <a:rPr sz="1500" b="1" i="0">
                <a:solidFill>
                  <a:srgbClr val="172033"/>
                </a:solidFill>
              </a:rPr>
              <a:t>No tiling memory</a:t>
            </a:r>
            <a:endParaRPr sz="1500" b="1" i="0">
              <a:solidFill>
                <a:srgbClr val="172033"/>
              </a:solidFill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16649700" y="5067300"/>
            <a:ext cx="7048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5B667A"/>
                </a:solidFill>
              </a:defRPr>
            </a:pPr>
            <a:r>
              <a:rPr sz="1500" b="1" i="0">
                <a:solidFill>
                  <a:srgbClr val="5B667A"/>
                </a:solidFill>
              </a:rPr>
              <a:t>52.0 GB</a:t>
            </a:r>
            <a:endParaRPr sz="1500" b="1" i="0">
              <a:solidFill>
                <a:srgbClr val="5B667A"/>
              </a:solidFill>
            </a:endParaRP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9144000" y="5638800"/>
            <a:ext cx="4953000" cy="171450"/>
          </a:xfrm>
          <a:prstGeom prst="roundRect">
            <a:avLst>
              <a:gd name="adj" fmla="val 27778"/>
            </a:avLst>
          </a:prstGeom>
          <a:solidFill>
            <a:srgbClr val="5B667A"/>
          </a:solidFill>
          <a:ln w="9525">
            <a:solidFill>
              <a:srgbClr val="5B667A"/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14097000" y="5715000"/>
            <a:ext cx="3276600" cy="19050"/>
          </a:xfrm>
          <a:prstGeom prst="rect">
            <a:avLst/>
          </a:prstGeom>
          <a:solidFill>
            <a:srgbClr val="E4E9F2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9105900" y="5867400"/>
            <a:ext cx="82486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B667A"/>
                </a:solidFill>
              </a:defRPr>
            </a:pPr>
            <a:r>
              <a:rPr sz="1125" b="0" i="0">
                <a:solidFill>
                  <a:srgbClr val="5B667A"/>
                </a:solidFill>
              </a:rPr>
              <a:t>Full-image reference</a:t>
            </a:r>
            <a:endParaRPr sz="1125" b="0" i="0">
              <a:solidFill>
                <a:srgbClr val="5B667A"/>
              </a:solidFill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9105900" y="6210300"/>
            <a:ext cx="1447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172033"/>
                </a:solidFill>
              </a:defRPr>
            </a:pPr>
            <a:r>
              <a:rPr sz="1500" b="1" i="0">
                <a:solidFill>
                  <a:srgbClr val="172033"/>
                </a:solidFill>
              </a:rPr>
              <a:t>512 tile memory</a:t>
            </a:r>
            <a:endParaRPr sz="1500" b="1" i="0">
              <a:solidFill>
                <a:srgbClr val="172033"/>
              </a:solidFill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16764000" y="6210300"/>
            <a:ext cx="5905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15803D"/>
                </a:solidFill>
              </a:defRPr>
            </a:pPr>
            <a:r>
              <a:rPr sz="1500" b="1" i="0">
                <a:solidFill>
                  <a:srgbClr val="15803D"/>
                </a:solidFill>
              </a:rPr>
              <a:t>3.0 GB</a:t>
            </a:r>
            <a:endParaRPr sz="1500" b="1" i="0">
              <a:solidFill>
                <a:srgbClr val="15803D"/>
              </a:solidFill>
            </a:endParaRP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9105900" y="6781800"/>
            <a:ext cx="285750" cy="171450"/>
          </a:xfrm>
          <a:prstGeom prst="roundRect">
            <a:avLst>
              <a:gd name="adj" fmla="val 27778"/>
            </a:avLst>
          </a:prstGeom>
          <a:solidFill>
            <a:srgbClr val="15803D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9372600" y="6858000"/>
            <a:ext cx="7924800" cy="19050"/>
          </a:xfrm>
          <a:prstGeom prst="rect">
            <a:avLst/>
          </a:prstGeom>
          <a:solidFill>
            <a:srgbClr val="E4E9F2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9105900" y="7010400"/>
            <a:ext cx="82486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B667A"/>
                </a:solidFill>
              </a:defRPr>
            </a:pPr>
            <a:r>
              <a:rPr sz="1125" b="0" i="0">
                <a:solidFill>
                  <a:srgbClr val="5B667A"/>
                </a:solidFill>
              </a:rPr>
              <a:t>17.2x lower peak GPU memory</a:t>
            </a:r>
            <a:endParaRPr sz="1125" b="0" i="0">
              <a:solidFill>
                <a:srgbClr val="5B667A"/>
              </a:solidFill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9105900" y="7353300"/>
            <a:ext cx="82486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5B667A"/>
                </a:solidFill>
              </a:defRPr>
            </a:pPr>
            <a:r>
              <a:rPr sz="1575" b="0" i="0">
                <a:solidFill>
                  <a:srgbClr val="5B667A"/>
                </a:solidFill>
              </a:rPr>
              <a:t>Trade-off: compression ratio decreases from 72.74x to 68.79x, while PSNR and SSIM remain close to no tiling.</a:t>
            </a:r>
            <a:endParaRPr sz="1575" b="0" i="0">
              <a:solidFill>
                <a:srgbClr val="5B667A"/>
              </a:solidFill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685800" y="9505950"/>
            <a:ext cx="4857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Source: results/2026-05-12-yifan-tiling-pilot/tables/combined_summary.csv.</a:t>
            </a:r>
            <a:endParaRPr sz="1125" b="0" i="0">
              <a:solidFill>
                <a:srgbClr val="6B7280"/>
              </a:solidFill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14897100" y="9429750"/>
            <a:ext cx="27051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CDC tiling weekly progress | May 12, 2026</a:t>
            </a:r>
            <a:endParaRPr sz="1125" b="0" i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3" name="slide-title"/>
          <p:cNvSpPr>
            <a:spLocks noGrp="1"/>
          </p:cNvSpPr>
          <p:nvPr/>
        </p:nvSpPr>
        <p:spPr>
          <a:xfrm>
            <a:off x="685800" y="514350"/>
            <a:ext cx="169164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 i="0">
                <a:solidFill>
                  <a:srgbClr val="172033"/>
                </a:solidFill>
              </a:defRPr>
            </a:pPr>
            <a:r>
              <a:rPr sz="3750" b="1" i="0">
                <a:solidFill>
                  <a:srgbClr val="172033"/>
                </a:solidFill>
              </a:rPr>
              <a:t>Visual Check Did Not Show New Grid-Like Seams</a:t>
            </a:r>
            <a:endParaRPr sz="3750" b="1" i="0">
              <a:solidFill>
                <a:srgbClr val="172033"/>
              </a:solidFill>
            </a:endParaRPr>
          </a:p>
        </p:txBody>
      </p:sp>
      <p:sp>
        <p:nvSpPr>
          <p:cNvPr id="4" name="slide-subtitle"/>
          <p:cNvSpPr>
            <a:spLocks noGrp="1"/>
          </p:cNvSpPr>
          <p:nvPr/>
        </p:nvSpPr>
        <p:spPr>
          <a:xfrm>
            <a:off x="685800" y="1200150"/>
            <a:ext cx="12230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5B667A"/>
                </a:solidFill>
              </a:defRPr>
            </a:pPr>
            <a:r>
              <a:rPr sz="1800" b="0" i="0">
                <a:solidFill>
                  <a:srgbClr val="5B667A"/>
                </a:solidFill>
              </a:rPr>
              <a:t>The seam-region crop compares the same road/intersection area across no tiling and the recommended 512-tile output.</a:t>
            </a:r>
            <a:endParaRPr sz="1800" b="0" i="0">
              <a:solidFill>
                <a:srgbClr val="5B667A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733550"/>
            <a:ext cx="17145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2045970"/>
            <a:ext cx="8334375" cy="53340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190750"/>
            <a:ext cx="8001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No tiling reference</a:t>
            </a:r>
            <a:endParaRPr sz="1800" b="1" i="0">
              <a:solidFill>
                <a:srgbClr val="172033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013" y="2586990"/>
            <a:ext cx="4171950" cy="4171950"/>
          </a:xfrm>
          <a:prstGeom prst="rect">
            <a:avLst/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9267825" y="2045970"/>
            <a:ext cx="8334375" cy="53340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448800" y="2190750"/>
            <a:ext cx="8001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512 tile stitched output</a:t>
            </a:r>
            <a:endParaRPr sz="1800" b="1" i="0">
              <a:solidFill>
                <a:srgbClr val="172033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038" y="2586990"/>
            <a:ext cx="4171950" cy="4171950"/>
          </a:xfrm>
          <a:prstGeom prst="rect">
            <a:avLst/>
          </a:prstGeom>
        </p:spPr>
      </p:pic>
      <p:sp>
        <p:nvSpPr>
          <p:cNvPr id="12" name="圆角矩形 11"/>
          <p:cNvSpPr>
            <a:spLocks noGrp="1"/>
          </p:cNvSpPr>
          <p:nvPr/>
        </p:nvSpPr>
        <p:spPr>
          <a:xfrm>
            <a:off x="685800" y="7646670"/>
            <a:ext cx="55372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95350" y="7810500"/>
            <a:ext cx="5124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Seam metric</a:t>
            </a:r>
            <a:endParaRPr sz="1350" b="1" i="0">
              <a:solidFill>
                <a:srgbClr val="5B667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8172450"/>
            <a:ext cx="51244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0F766E"/>
                </a:solidFill>
              </a:defRPr>
            </a:pPr>
            <a:r>
              <a:rPr sz="2550" b="1" i="0">
                <a:solidFill>
                  <a:srgbClr val="0F766E"/>
                </a:solidFill>
              </a:rPr>
              <a:t>0.0278</a:t>
            </a:r>
            <a:endParaRPr sz="2550" b="1" i="0">
              <a:solidFill>
                <a:srgbClr val="0F766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95350" y="8705850"/>
            <a:ext cx="5124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512-tile average</a:t>
            </a:r>
            <a:endParaRPr sz="1350" b="0" i="0">
              <a:solidFill>
                <a:srgbClr val="5B667A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375400" y="7646670"/>
            <a:ext cx="55372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591300" y="7810500"/>
            <a:ext cx="5124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Visual finding</a:t>
            </a:r>
            <a:endParaRPr sz="1350" b="1" i="0">
              <a:solidFill>
                <a:srgbClr val="5B667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591300" y="8172450"/>
            <a:ext cx="51244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15803D"/>
                </a:solidFill>
              </a:defRPr>
            </a:pPr>
            <a:r>
              <a:rPr sz="2550" b="1" i="0">
                <a:solidFill>
                  <a:srgbClr val="15803D"/>
                </a:solidFill>
              </a:rPr>
              <a:t>Pass</a:t>
            </a:r>
            <a:endParaRPr sz="2550" b="1" i="0">
              <a:solidFill>
                <a:srgbClr val="15803D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591300" y="8705850"/>
            <a:ext cx="5124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no obvious grid pattern</a:t>
            </a:r>
            <a:endParaRPr sz="1350" b="0" i="0">
              <a:solidFill>
                <a:srgbClr val="5B667A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2065000" y="7646670"/>
            <a:ext cx="55372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2268200" y="7810500"/>
            <a:ext cx="5124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Remaining caution</a:t>
            </a:r>
            <a:endParaRPr sz="1350" b="1" i="0">
              <a:solidFill>
                <a:srgbClr val="5B667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2268200" y="8172450"/>
            <a:ext cx="51244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D97706"/>
                </a:solidFill>
              </a:defRPr>
            </a:pPr>
            <a:r>
              <a:rPr sz="2550" b="1" i="0">
                <a:solidFill>
                  <a:srgbClr val="D97706"/>
                </a:solidFill>
              </a:rPr>
              <a:t>Sample check</a:t>
            </a:r>
            <a:endParaRPr sz="2550" b="1" i="0">
              <a:solidFill>
                <a:srgbClr val="D97706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2268200" y="8705850"/>
            <a:ext cx="5124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larger visual review still useful</a:t>
            </a:r>
            <a:endParaRPr sz="1350" b="0" i="0">
              <a:solidFill>
                <a:srgbClr val="5B667A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9334500"/>
            <a:ext cx="5581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Source: visual examples in results/2026-05-12-yifan-tiling-pilot/visual_examples_small/.</a:t>
            </a:r>
            <a:endParaRPr sz="1125" b="0" i="0">
              <a:solidFill>
                <a:srgbClr val="6B7280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4897100" y="9334500"/>
            <a:ext cx="27051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CDC tiling weekly progress | May 12, 2026</a:t>
            </a:r>
            <a:endParaRPr sz="1125" b="0" i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3" name="slide-title"/>
          <p:cNvSpPr>
            <a:spLocks noGrp="1"/>
          </p:cNvSpPr>
          <p:nvPr/>
        </p:nvSpPr>
        <p:spPr>
          <a:xfrm>
            <a:off x="685800" y="514350"/>
            <a:ext cx="169164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 i="0">
                <a:solidFill>
                  <a:srgbClr val="172033"/>
                </a:solidFill>
              </a:defRPr>
            </a:pPr>
            <a:r>
              <a:rPr sz="3750" b="1" i="0">
                <a:solidFill>
                  <a:srgbClr val="172033"/>
                </a:solidFill>
              </a:rPr>
              <a:t>Decision: Use 512 x 512 as the Default Tiling Setup</a:t>
            </a:r>
            <a:endParaRPr sz="3750" b="1" i="0">
              <a:solidFill>
                <a:srgbClr val="172033"/>
              </a:solidFill>
            </a:endParaRPr>
          </a:p>
        </p:txBody>
      </p:sp>
      <p:sp>
        <p:nvSpPr>
          <p:cNvPr id="4" name="slide-subtitle"/>
          <p:cNvSpPr>
            <a:spLocks noGrp="1"/>
          </p:cNvSpPr>
          <p:nvPr/>
        </p:nvSpPr>
        <p:spPr>
          <a:xfrm>
            <a:off x="685800" y="1200150"/>
            <a:ext cx="123825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5B667A"/>
                </a:solidFill>
              </a:defRPr>
            </a:pPr>
            <a:r>
              <a:rPr sz="1800" b="0" i="0">
                <a:solidFill>
                  <a:srgbClr val="5B667A"/>
                </a:solidFill>
              </a:rPr>
              <a:t>The current evidence favors 512 x 512 for speed and memory, with 1024 x 1024 as a backup if larger visual checks reveal artifacts.</a:t>
            </a:r>
            <a:endParaRPr sz="1800" b="0" i="0">
              <a:solidFill>
                <a:srgbClr val="5B667A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2019300"/>
            <a:ext cx="17145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2320290"/>
            <a:ext cx="8324850" cy="5242560"/>
          </a:xfrm>
          <a:prstGeom prst="roundRect">
            <a:avLst>
              <a:gd name="adj" fmla="val 1453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933450" y="2548890"/>
            <a:ext cx="1656112" cy="369570"/>
          </a:xfrm>
          <a:prstGeom prst="roundRect">
            <a:avLst>
              <a:gd name="adj" fmla="val 20619"/>
            </a:avLst>
          </a:prstGeom>
          <a:solidFill>
            <a:srgbClr val="E7F6F2"/>
          </a:solidFill>
          <a:ln w="9525">
            <a:solidFill>
              <a:srgbClr val="E7F6F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04900" y="2628900"/>
            <a:ext cx="1314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 i="0">
                <a:solidFill>
                  <a:srgbClr val="0F766E"/>
                </a:solidFill>
              </a:defRPr>
            </a:pPr>
            <a:r>
              <a:rPr sz="1425" b="1" i="0">
                <a:solidFill>
                  <a:srgbClr val="0F766E"/>
                </a:solidFill>
              </a:rPr>
              <a:t>Recommended</a:t>
            </a:r>
            <a:endParaRPr sz="1425" b="1" i="0">
              <a:solidFill>
                <a:srgbClr val="0F766E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933450" y="30861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81100" y="3086100"/>
            <a:ext cx="7581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172033"/>
                </a:solidFill>
              </a:defRPr>
            </a:pPr>
            <a:r>
              <a:rPr sz="1725" b="1" i="0">
                <a:solidFill>
                  <a:srgbClr val="172033"/>
                </a:solidFill>
              </a:rPr>
              <a:t>Default setup: 512 x 512 tiles.</a:t>
            </a:r>
            <a:endParaRPr sz="1725" b="1" i="0">
              <a:solidFill>
                <a:srgbClr val="17203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81100" y="3390900"/>
            <a:ext cx="7581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B667A"/>
                </a:solidFill>
              </a:defRPr>
            </a:pPr>
            <a:r>
              <a:rPr sz="1425" b="0" i="0">
                <a:solidFill>
                  <a:srgbClr val="5B667A"/>
                </a:solidFill>
              </a:rPr>
              <a:t>Fastest runtime and largest memory drop in the eight-image pilot.</a:t>
            </a:r>
            <a:endParaRPr sz="1425" b="0" i="0">
              <a:solidFill>
                <a:srgbClr val="5B667A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933450" y="37719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81100" y="3771900"/>
            <a:ext cx="7581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172033"/>
                </a:solidFill>
              </a:defRPr>
            </a:pPr>
            <a:r>
              <a:rPr sz="1725" b="1" i="0">
                <a:solidFill>
                  <a:srgbClr val="172033"/>
                </a:solidFill>
              </a:rPr>
              <a:t>Use this result in the weekly update.</a:t>
            </a:r>
            <a:endParaRPr sz="1725" b="1" i="0">
              <a:solidFill>
                <a:srgbClr val="17203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81100" y="4076700"/>
            <a:ext cx="7581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B667A"/>
                </a:solidFill>
              </a:defRPr>
            </a:pPr>
            <a:r>
              <a:rPr sz="1425" b="0" i="0">
                <a:solidFill>
                  <a:srgbClr val="5B667A"/>
                </a:solidFill>
              </a:rPr>
              <a:t>86.01s/image, 3.0 GB, compression ratio 68.79x, PSNR 29.73, SSIM 0.8822.</a:t>
            </a:r>
            <a:endParaRPr sz="1425" b="0" i="0">
              <a:solidFill>
                <a:srgbClr val="5B667A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933450" y="44767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81100" y="4476750"/>
            <a:ext cx="7581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172033"/>
                </a:solidFill>
              </a:defRPr>
            </a:pPr>
            <a:r>
              <a:rPr sz="1725" b="1" i="0">
                <a:solidFill>
                  <a:srgbClr val="172033"/>
                </a:solidFill>
              </a:rPr>
              <a:t>Mention artifact check honestly.</a:t>
            </a:r>
            <a:endParaRPr sz="1725" b="1" i="0">
              <a:solidFill>
                <a:srgbClr val="17203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81100" y="4762500"/>
            <a:ext cx="75819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B667A"/>
                </a:solidFill>
              </a:defRPr>
            </a:pPr>
            <a:r>
              <a:rPr sz="1425" b="0" i="0">
                <a:solidFill>
                  <a:srgbClr val="5B667A"/>
                </a:solidFill>
              </a:rPr>
              <a:t>Checked examples show no obvious grid-like seams; larger-sample review remains a final-poster step.</a:t>
            </a:r>
            <a:endParaRPr sz="1425" b="0" i="0">
              <a:solidFill>
                <a:srgbClr val="5B667A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9277350" y="2320290"/>
            <a:ext cx="8324850" cy="5242560"/>
          </a:xfrm>
          <a:prstGeom prst="roundRect">
            <a:avLst>
              <a:gd name="adj" fmla="val 1453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9525000" y="2548890"/>
            <a:ext cx="741807" cy="586740"/>
          </a:xfrm>
          <a:prstGeom prst="roundRect">
            <a:avLst>
              <a:gd name="adj" fmla="val 12987"/>
            </a:avLst>
          </a:prstGeom>
          <a:solidFill>
            <a:srgbClr val="FFF7ED"/>
          </a:solidFill>
          <a:ln w="9525">
            <a:solidFill>
              <a:srgbClr val="FFF7ED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696450" y="2628900"/>
            <a:ext cx="4000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 i="0">
                <a:solidFill>
                  <a:srgbClr val="D97706"/>
                </a:solidFill>
              </a:defRPr>
            </a:pPr>
            <a:r>
              <a:rPr sz="1425" b="1" i="0">
                <a:solidFill>
                  <a:srgbClr val="D97706"/>
                </a:solidFill>
              </a:rPr>
              <a:t>Next</a:t>
            </a:r>
            <a:endParaRPr sz="1425" b="1" i="0">
              <a:solidFill>
                <a:srgbClr val="D97706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9525000" y="3314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772650" y="3314700"/>
            <a:ext cx="7581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172033"/>
                </a:solidFill>
              </a:defRPr>
            </a:pPr>
            <a:r>
              <a:rPr sz="1725" b="1" i="0">
                <a:solidFill>
                  <a:srgbClr val="172033"/>
                </a:solidFill>
              </a:rPr>
              <a:t>Run larger selected setup.</a:t>
            </a:r>
            <a:endParaRPr sz="1725" b="1" i="0">
              <a:solidFill>
                <a:srgbClr val="172033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772650" y="3600450"/>
            <a:ext cx="7581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B667A"/>
                </a:solidFill>
              </a:defRPr>
            </a:pPr>
            <a:r>
              <a:rPr sz="1425" b="0" i="0">
                <a:solidFill>
                  <a:srgbClr val="5B667A"/>
                </a:solidFill>
              </a:rPr>
              <a:t>Suggested run: N_IMAGES=50, primarily 512 x 512.</a:t>
            </a:r>
            <a:endParaRPr sz="1425" b="0" i="0">
              <a:solidFill>
                <a:srgbClr val="5B667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9525000" y="4000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772650" y="4000500"/>
            <a:ext cx="7581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172033"/>
                </a:solidFill>
              </a:defRPr>
            </a:pPr>
            <a:r>
              <a:rPr sz="1725" b="1" i="0">
                <a:solidFill>
                  <a:srgbClr val="172033"/>
                </a:solidFill>
              </a:rPr>
              <a:t>Keep 1024 x 1024 as backup.</a:t>
            </a:r>
            <a:endParaRPr sz="1725" b="1" i="0">
              <a:solidFill>
                <a:srgbClr val="172033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772650" y="4305300"/>
            <a:ext cx="7581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B667A"/>
                </a:solidFill>
              </a:defRPr>
            </a:pPr>
            <a:r>
              <a:rPr sz="1425" b="0" i="0">
                <a:solidFill>
                  <a:srgbClr val="5B667A"/>
                </a:solidFill>
              </a:rPr>
              <a:t>It is slightly slower and uses more memory, but quality metrics are close to no tiling.</a:t>
            </a:r>
            <a:endParaRPr sz="1425" b="0" i="0">
              <a:solidFill>
                <a:srgbClr val="5B667A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525000" y="46863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772650" y="4686300"/>
            <a:ext cx="7581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172033"/>
                </a:solidFill>
              </a:defRPr>
            </a:pPr>
            <a:r>
              <a:rPr sz="1725" b="1" i="0">
                <a:solidFill>
                  <a:srgbClr val="172033"/>
                </a:solidFill>
              </a:rPr>
              <a:t>Prepare poster table.</a:t>
            </a:r>
            <a:endParaRPr sz="1725" b="1" i="0">
              <a:solidFill>
                <a:srgbClr val="17203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772650" y="4991100"/>
            <a:ext cx="7581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B667A"/>
                </a:solidFill>
              </a:defRPr>
            </a:pPr>
            <a:r>
              <a:rPr sz="1425" b="0" i="0">
                <a:solidFill>
                  <a:srgbClr val="5B667A"/>
                </a:solidFill>
              </a:rPr>
              <a:t>Report time, memory, compression ratio, PSNR, SSIM, and artifact status.</a:t>
            </a:r>
            <a:endParaRPr sz="1425" b="0" i="0">
              <a:solidFill>
                <a:srgbClr val="5B667A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685800" y="7829550"/>
            <a:ext cx="55372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95350" y="8001000"/>
            <a:ext cx="5124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Runtime reduction</a:t>
            </a:r>
            <a:endParaRPr sz="1350" b="1" i="0">
              <a:solidFill>
                <a:srgbClr val="5B667A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95350" y="8305800"/>
            <a:ext cx="51244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0F766E"/>
                </a:solidFill>
              </a:defRPr>
            </a:pPr>
            <a:r>
              <a:rPr sz="2550" b="1" i="0">
                <a:solidFill>
                  <a:srgbClr val="0F766E"/>
                </a:solidFill>
              </a:rPr>
              <a:t>40.1%</a:t>
            </a:r>
            <a:endParaRPr sz="2550" b="1" i="0">
              <a:solidFill>
                <a:srgbClr val="0F766E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95350" y="8782050"/>
            <a:ext cx="5124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143.55s to 86.01s</a:t>
            </a:r>
            <a:endParaRPr sz="1350" b="0" i="0">
              <a:solidFill>
                <a:srgbClr val="5B667A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6375400" y="7829550"/>
            <a:ext cx="55372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591300" y="8001000"/>
            <a:ext cx="5124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Memory reduction</a:t>
            </a:r>
            <a:endParaRPr sz="1350" b="1" i="0">
              <a:solidFill>
                <a:srgbClr val="5B667A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591300" y="8305800"/>
            <a:ext cx="51244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15803D"/>
                </a:solidFill>
              </a:defRPr>
            </a:pPr>
            <a:r>
              <a:rPr sz="2550" b="1" i="0">
                <a:solidFill>
                  <a:srgbClr val="15803D"/>
                </a:solidFill>
              </a:rPr>
              <a:t>17.2x</a:t>
            </a:r>
            <a:endParaRPr sz="2550" b="1" i="0">
              <a:solidFill>
                <a:srgbClr val="15803D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591300" y="8782050"/>
            <a:ext cx="5124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52.0 GB to 3.0 GB</a:t>
            </a:r>
            <a:endParaRPr sz="1350" b="0" i="0">
              <a:solidFill>
                <a:srgbClr val="5B667A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12065000" y="7829550"/>
            <a:ext cx="55372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2268200" y="8001000"/>
            <a:ext cx="5124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Current answer</a:t>
            </a:r>
            <a:endParaRPr sz="1350" b="1" i="0">
              <a:solidFill>
                <a:srgbClr val="5B667A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2268200" y="8305800"/>
            <a:ext cx="51244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2563EB"/>
                </a:solidFill>
              </a:defRPr>
            </a:pPr>
            <a:r>
              <a:rPr sz="2550" b="1" i="0">
                <a:solidFill>
                  <a:srgbClr val="2563EB"/>
                </a:solidFill>
              </a:rPr>
              <a:t>Tiling helps</a:t>
            </a:r>
            <a:endParaRPr sz="2550" b="1" i="0">
              <a:solidFill>
                <a:srgbClr val="2563EB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2268200" y="8782050"/>
            <a:ext cx="5124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fast and storage-aware path</a:t>
            </a:r>
            <a:endParaRPr sz="1350" b="0" i="0">
              <a:solidFill>
                <a:srgbClr val="5B667A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85800" y="9505950"/>
            <a:ext cx="48196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Source: committed pilot tables, visual examples, and weekly progress note.</a:t>
            </a:r>
            <a:endParaRPr sz="1125" b="0" i="0">
              <a:solidFill>
                <a:srgbClr val="6B7280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4897100" y="9429750"/>
            <a:ext cx="27051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CDC tiling weekly progress | May 12, 2026</a:t>
            </a:r>
            <a:endParaRPr sz="1125" b="0" i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3568</Words>
  <Application>WPS 演示</Application>
  <PresentationFormat>Converted Presentation</PresentationFormat>
  <Paragraphs>268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Helvetica Neue</vt:lpstr>
      <vt:lpstr>微软雅黑</vt:lpstr>
      <vt:lpstr>汉仪旗黑</vt:lpstr>
      <vt:lpstr>宋体</vt:lpstr>
      <vt:lpstr>Arial Unicode MS</vt:lpstr>
      <vt:lpstr>宋体-简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yifn</cp:lastModifiedBy>
  <cp:revision>1</cp:revision>
  <dcterms:created xsi:type="dcterms:W3CDTF">2026-05-12T15:27:12Z</dcterms:created>
  <dcterms:modified xsi:type="dcterms:W3CDTF">2026-05-12T15:27:12Z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F2F19E680BF6F201D046036AC801BBDB_42</vt:lpwstr>
  </property>
  <property fmtid="{D5CDD505-2E9C-101B-9397-08002B2CF9AE}" pid="3" name="KSOProductBuildVer">
    <vt:lpwstr>2052-12.1.25880.25880</vt:lpwstr>
  </property>
</Properties>
</file>